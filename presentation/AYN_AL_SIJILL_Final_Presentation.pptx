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Saud
Suggested time: 35 seconds
Open with the Ghost Order: simulated payment authorization succeeds, but the order is not created.
The checkout uses synthetic data and does not process real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Saud
Suggested time: 35 seconds
Introduce each presenter by name and section. Hand off every two and a half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Saud
Suggested time: 45 seconds
The Ghost Order scenario returns HTTP 500 after a successful simulated payment authorization.
Order creation fails because the simulator emits a database connection pool timeout.
The operator needs the payment result, the failed service, and the cause in one view.
Source: function-app/src/events.js.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Saud
Suggested time: 35 seconds
The solution emits ECS-style service events with shared identifiers.
An operator can filter Kibana by trace and see the full checkout sequence.
If the 25-second real-screen clip is ready, play it here. Use the remaining time to name the four steps. The clip replaces narration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Retaj
Suggested time: 50 seconds
The checkout simulator runs in Azure Functions. It sends authenticated event batches over HTTPS to Caddy and Logstash on one Azure VM.
Elasticsearch stores events; Kibana provides search. Filebeat adds Docker and Linux logs.
Logstash copies operational events to a reporting Function and Azure SQL.
Telegram alerts are sent from the checkout Function for failed journeys.
Source: 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Retaj
Suggested time: 40 seconds
The VM is in East US, Functions in East US 2, and Azure SQL in Central US because of this subscription’s provisioning limits.
Key Vault holds bot credentials. Logic Apps starts the VM each morning. Azure auto-shutdown deallocates it at night.
Azure Blob Storage holds Terraform state separately from workload resources.
Icon source: Microsoft Azure Architecture Center, https://learn.microsoft.com/azure/architecture/icons/.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Retaj
Suggested time: 30 seconds
The weights are configuration: 75% success, 8% Ghost Order, 10% payment decline, and 7% inventory shortage.
The timer runs every two minutes by default. Manual requests make a live demonstration repeatable.
Source: function-app/src/events.js and function-app/src/functions.js.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Retaj
Suggested time: 30 seconds
The proposal expected a Compose dummy app and a worker sending 30 requests each minute, with every twentieth request a Ghost Order.
The deployed simulator runs in Azure Functions. Its default timer interval is two minutes and its scenario mix covers success, Ghost Order, payment decline, and inventory shortage.
Caddy provides HTTPS and authenticated ingestion. Telegram adds an incident response path. Logstash also copies events into Azure SQL, and a stable-ID backfill creates history.
The Power BI report and a full destroy-and-rebuild rehearsal remain open.
Sources: proposal pages 5 to 9, README.md, 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Norah
Suggested time: 45 seconds
During the live demo, trigger the dedicated Ghost Order endpoint and read the returned order ID and trace ID. Keep the token off screen.
The simulated database connection pool timeout identifies the cause.
The final checkout event records HTTP 500, and all events share correlation identifiers.
Source: function-app/src/events.js.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Norah
Suggested time: 40 seconds
The Operations dashboard contains four imported searchable views: MAJLIS, NABD, MASAR, and ATHAR.
Paste the returned trace ID into the Operations dashboard. Point to PAYMENT_SUCCESS, ORDER_CREATE_FAILED, and DATABASE_TIMEOUT.
This slide diagrams the four saved views and the trace filter.
Source: README.md and 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Norah
Suggested time: 35 seconds
Open the Telegram incident card for this checkout. Point to severity, cause, order ID, and the Kibana button.
Its button opens the Kibana dashboard filtered to the trace and a short time window.
Bot credentials are stored in Azure Key Vault. A delivery failure is logged and does not change the checkout result.
Source: function-app/src/telegram.js and 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Norah
Suggested time: 30 seconds
Logstash sends a reporting copy to an authenticated Azure Function, which upserts Azure SQL.
The view dbo.PowerBIIncidentEvents has been validated with live rows.
A PBIX report has not been authored or published. State that boundary clearly.
Source: function-app/src/incidents.js and 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Lama
Suggested time: 45 seconds
Caddy provides public HTTPS. Kibana login is required; direct data ports are not public.
SSH access is restricted by configured CIDRs. Function APIs use generated tokens, except health.
Key Vault contains bot secrets. Logic Apps and auto-shutdown govern the VM schedule.
This is a single-VM course demo, not a high-availability production deployment.
Source: docs/ARCHITECTURE.md, README.md, DEPLOYMENT.md.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Lama
Suggested time: 55 seconds
Normal checkout returned 201 and Ghost Order returned 500, with required correlated events in Elasticsearch.
A unique probe passed through Caddy and Logstash into the reporting Function and was read back from Azure SQL.
Linux and Docker logs were indexed. The public HTTPS login had a valid certificate, and unauthenticated dashboard access was rejected.
The four investigation views were imported into Kibana.
The clean destroy-and-rebuild rehearsal remains open. The validation results were recorded during the Azure deployment.
Source: DEPLOYMENT.md, Verification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Lama
Suggested time: 50 seconds
Summarize the walkthrough: the API returned 500, Kibana showed the database timeout, Telegram linked to the trace, and SQL stored the events.
The current system is a synthetic demonstration. Next work includes authoring the Power BI report, adding KPI views, testing a rebuild, and production hardening.
Invite questions about the deployment and the investigation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D2B"/>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4DCC0"/>
          </a:solidFill>
          <a:ln w="12700">
            <a:solidFill>
              <a:srgbClr val="B4DCC0"/>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B4DCC0"/>
                </a:solidFill>
                <a:latin typeface="Segoe UI" pitchFamily="34" charset="0"/>
                <a:ea typeface="Segoe UI" pitchFamily="34" charset="-122"/>
                <a:cs typeface="Segoe UI" pitchFamily="34" charset="-120"/>
              </a:rPr>
              <a:t>AN AZURE OBSERVABILITY CASE STUDY</a:t>
            </a:r>
            <a:endParaRPr lang="en-US" sz="1000" dirty="0"/>
          </a:p>
        </p:txBody>
      </p:sp>
      <p:sp>
        <p:nvSpPr>
          <p:cNvPr id="4" name="Shape 2"/>
          <p:cNvSpPr/>
          <p:nvPr/>
        </p:nvSpPr>
        <p:spPr>
          <a:xfrm>
            <a:off x="576072" y="6473952"/>
            <a:ext cx="11036808" cy="0"/>
          </a:xfrm>
          <a:prstGeom prst="line">
            <a:avLst/>
          </a:prstGeom>
          <a:noFill/>
          <a:ln w="10160">
            <a:solidFill>
              <a:srgbClr val="547565"/>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B4DCC0"/>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B4DCC0"/>
                </a:solidFill>
                <a:latin typeface="Segoe UI" pitchFamily="34" charset="0"/>
                <a:ea typeface="Segoe UI" pitchFamily="34" charset="-122"/>
                <a:cs typeface="Segoe UI" pitchFamily="34" charset="-120"/>
              </a:rPr>
              <a:t>01 / 15</a:t>
            </a:r>
            <a:endParaRPr lang="en-US" sz="900" dirty="0"/>
          </a:p>
        </p:txBody>
      </p:sp>
      <p:sp>
        <p:nvSpPr>
          <p:cNvPr id="7" name="Shape 5"/>
          <p:cNvSpPr/>
          <p:nvPr/>
        </p:nvSpPr>
        <p:spPr>
          <a:xfrm>
            <a:off x="612648" y="1143000"/>
            <a:ext cx="1572768" cy="310896"/>
          </a:xfrm>
          <a:prstGeom prst="roundRect">
            <a:avLst>
              <a:gd name="adj" fmla="val 23529"/>
            </a:avLst>
          </a:prstGeom>
          <a:solidFill>
            <a:srgbClr val="2D644E"/>
          </a:solidFill>
          <a:ln w="12700">
            <a:solidFill>
              <a:srgbClr val="2D644E"/>
            </a:solidFill>
            <a:prstDash val="solid"/>
          </a:ln>
        </p:spPr>
      </p:sp>
      <p:sp>
        <p:nvSpPr>
          <p:cNvPr id="8" name="Text 6"/>
          <p:cNvSpPr/>
          <p:nvPr/>
        </p:nvSpPr>
        <p:spPr>
          <a:xfrm>
            <a:off x="722376" y="1170432"/>
            <a:ext cx="1353312" cy="246888"/>
          </a:xfrm>
          <a:prstGeom prst="rect">
            <a:avLst/>
          </a:prstGeom>
          <a:noFill/>
          <a:ln/>
        </p:spPr>
        <p:txBody>
          <a:bodyPr wrap="square" lIns="0" tIns="0" rIns="0" bIns="0" rtlCol="0" anchor="ctr">
            <a:normAutofit/>
          </a:bodyPr>
          <a:lstStyle/>
          <a:p>
            <a:pPr indent="0" marL="0">
              <a:buNone/>
            </a:pPr>
            <a:r>
              <a:rPr lang="en-US" sz="1000" b="1" spc="110" kern="0" dirty="0">
                <a:solidFill>
                  <a:srgbClr val="DFF3E3"/>
                </a:solidFill>
                <a:latin typeface="Segoe UI" pitchFamily="34" charset="0"/>
                <a:ea typeface="Segoe UI" pitchFamily="34" charset="-122"/>
                <a:cs typeface="Segoe UI" pitchFamily="34" charset="-120"/>
              </a:rPr>
              <a:t>AYN AL-SIJILL</a:t>
            </a:r>
            <a:endParaRPr lang="en-US" sz="1000" dirty="0"/>
          </a:p>
        </p:txBody>
      </p:sp>
      <p:sp>
        <p:nvSpPr>
          <p:cNvPr id="9" name="Text 7"/>
          <p:cNvSpPr/>
          <p:nvPr/>
        </p:nvSpPr>
        <p:spPr>
          <a:xfrm>
            <a:off x="603504" y="1700784"/>
            <a:ext cx="9875520" cy="1764792"/>
          </a:xfrm>
          <a:prstGeom prst="rect">
            <a:avLst/>
          </a:prstGeom>
          <a:noFill/>
          <a:ln/>
        </p:spPr>
        <p:txBody>
          <a:bodyPr wrap="square" lIns="0" tIns="0" rIns="0" bIns="0" rtlCol="0" anchor="ctr">
            <a:normAutofit/>
          </a:bodyPr>
          <a:lstStyle/>
          <a:p>
            <a:pPr indent="0" marL="0">
              <a:buNone/>
            </a:pPr>
            <a:r>
              <a:rPr lang="en-US" sz="4200" b="1" dirty="0">
                <a:solidFill>
                  <a:srgbClr val="F7FCF4"/>
                </a:solidFill>
                <a:latin typeface="Bahnschrift" pitchFamily="34" charset="0"/>
                <a:ea typeface="Bahnschrift" pitchFamily="34" charset="-122"/>
                <a:cs typeface="Bahnschrift" pitchFamily="34" charset="-120"/>
              </a:rPr>
              <a:t>Payment approved.</a:t>
            </a:r>
            <a:endParaRPr lang="en-US" sz="4200" dirty="0"/>
          </a:p>
          <a:p>
            <a:pPr indent="0" marL="0">
              <a:buNone/>
            </a:pPr>
            <a:r>
              <a:rPr lang="en-US" sz="4200" b="1" dirty="0">
                <a:solidFill>
                  <a:srgbClr val="F7FCF4"/>
                </a:solidFill>
                <a:latin typeface="Bahnschrift" pitchFamily="34" charset="0"/>
                <a:ea typeface="Bahnschrift" pitchFamily="34" charset="-122"/>
                <a:cs typeface="Bahnschrift" pitchFamily="34" charset="-120"/>
              </a:rPr>
              <a:t>No order created.</a:t>
            </a:r>
            <a:endParaRPr lang="en-US" sz="4200" dirty="0"/>
          </a:p>
        </p:txBody>
      </p:sp>
      <p:sp>
        <p:nvSpPr>
          <p:cNvPr id="10" name="Text 8"/>
          <p:cNvSpPr/>
          <p:nvPr/>
        </p:nvSpPr>
        <p:spPr>
          <a:xfrm>
            <a:off x="640080" y="3913632"/>
            <a:ext cx="9875520" cy="484632"/>
          </a:xfrm>
          <a:prstGeom prst="rect">
            <a:avLst/>
          </a:prstGeom>
          <a:noFill/>
          <a:ln/>
        </p:spPr>
        <p:txBody>
          <a:bodyPr wrap="square" lIns="0" tIns="0" rIns="0" bIns="0" rtlCol="0" anchor="ctr">
            <a:normAutofit/>
          </a:bodyPr>
          <a:lstStyle/>
          <a:p>
            <a:pPr indent="0" marL="0">
              <a:buNone/>
            </a:pPr>
            <a:r>
              <a:rPr lang="en-US" sz="2100" dirty="0">
                <a:solidFill>
                  <a:srgbClr val="D4E7D8"/>
                </a:solidFill>
                <a:latin typeface="Segoe UI" pitchFamily="34" charset="0"/>
                <a:ea typeface="Segoe UI" pitchFamily="34" charset="-122"/>
                <a:cs typeface="Segoe UI" pitchFamily="34" charset="-120"/>
              </a:rPr>
              <a:t>Rihla Market scenario: a searchable Ghost Order on Azure.</a:t>
            </a:r>
            <a:endParaRPr lang="en-US" sz="2100" dirty="0"/>
          </a:p>
        </p:txBody>
      </p:sp>
      <p:sp>
        <p:nvSpPr>
          <p:cNvPr id="11" name="Shape 9"/>
          <p:cNvSpPr/>
          <p:nvPr/>
        </p:nvSpPr>
        <p:spPr>
          <a:xfrm>
            <a:off x="640080" y="4846320"/>
            <a:ext cx="10789920" cy="0"/>
          </a:xfrm>
          <a:prstGeom prst="line">
            <a:avLst/>
          </a:prstGeom>
          <a:noFill/>
          <a:ln w="15240">
            <a:solidFill>
              <a:srgbClr val="6C9E7D"/>
            </a:solidFill>
            <a:prstDash val="solid"/>
          </a:ln>
        </p:spPr>
      </p:sp>
      <p:pic>
        <p:nvPicPr>
          <p:cNvPr id="12" name="Image 0" descr="/mnt/c/Users/Saud/Documents/ChatGPT/SDA/presentation/assets/azure/functions.png">    </p:cNvPr>
          <p:cNvPicPr>
            <a:picLocks noChangeAspect="1"/>
          </p:cNvPicPr>
          <p:nvPr/>
        </p:nvPicPr>
        <p:blipFill>
          <a:blip r:embed="rId1"/>
          <a:stretch>
            <a:fillRect/>
          </a:stretch>
        </p:blipFill>
        <p:spPr>
          <a:xfrm>
            <a:off x="1097280" y="5166360"/>
            <a:ext cx="502920" cy="502920"/>
          </a:xfrm>
          <a:prstGeom prst="rect">
            <a:avLst/>
          </a:prstGeom>
        </p:spPr>
      </p:pic>
      <p:pic>
        <p:nvPicPr>
          <p:cNvPr id="13" name="Image 1" descr="/mnt/c/Users/Saud/Documents/ChatGPT/SDA/presentation/assets/azure/virtual-machine.png">    </p:cNvPr>
          <p:cNvPicPr>
            <a:picLocks noChangeAspect="1"/>
          </p:cNvPicPr>
          <p:nvPr/>
        </p:nvPicPr>
        <p:blipFill>
          <a:blip r:embed="rId2"/>
          <a:stretch>
            <a:fillRect/>
          </a:stretch>
        </p:blipFill>
        <p:spPr>
          <a:xfrm>
            <a:off x="4937760" y="5166360"/>
            <a:ext cx="502920" cy="502920"/>
          </a:xfrm>
          <a:prstGeom prst="rect">
            <a:avLst/>
          </a:prstGeom>
        </p:spPr>
      </p:pic>
      <p:pic>
        <p:nvPicPr>
          <p:cNvPr id="14" name="Image 2" descr="/mnt/c/Users/Saud/Documents/ChatGPT/SDA/presentation/assets/azure/sql-database.png">    </p:cNvPr>
          <p:cNvPicPr>
            <a:picLocks noChangeAspect="1"/>
          </p:cNvPicPr>
          <p:nvPr/>
        </p:nvPicPr>
        <p:blipFill>
          <a:blip r:embed="rId3"/>
          <a:stretch>
            <a:fillRect/>
          </a:stretch>
        </p:blipFill>
        <p:spPr>
          <a:xfrm>
            <a:off x="8778240" y="5166360"/>
            <a:ext cx="502920" cy="502920"/>
          </a:xfrm>
          <a:prstGeom prst="rect">
            <a:avLst/>
          </a:prstGeom>
        </p:spPr>
      </p:pic>
      <p:sp>
        <p:nvSpPr>
          <p:cNvPr id="15" name="Text 10"/>
          <p:cNvSpPr/>
          <p:nvPr/>
        </p:nvSpPr>
        <p:spPr>
          <a:xfrm>
            <a:off x="1737360" y="5285232"/>
            <a:ext cx="1792224" cy="256032"/>
          </a:xfrm>
          <a:prstGeom prst="rect">
            <a:avLst/>
          </a:prstGeom>
          <a:noFill/>
          <a:ln/>
        </p:spPr>
        <p:txBody>
          <a:bodyPr wrap="square" lIns="0" tIns="0" rIns="0" bIns="0" rtlCol="0" anchor="ctr">
            <a:normAutofit/>
          </a:bodyPr>
          <a:lstStyle/>
          <a:p>
            <a:pPr indent="0" marL="0">
              <a:buNone/>
            </a:pPr>
            <a:r>
              <a:rPr lang="en-US" sz="1300" b="1" dirty="0">
                <a:solidFill>
                  <a:srgbClr val="F7FCF4"/>
                </a:solidFill>
                <a:latin typeface="Segoe UI" pitchFamily="34" charset="0"/>
                <a:ea typeface="Segoe UI" pitchFamily="34" charset="-122"/>
                <a:cs typeface="Segoe UI" pitchFamily="34" charset="-120"/>
              </a:rPr>
              <a:t>AZURE FUNCTIONS</a:t>
            </a:r>
            <a:endParaRPr lang="en-US" sz="1300" dirty="0"/>
          </a:p>
        </p:txBody>
      </p:sp>
      <p:sp>
        <p:nvSpPr>
          <p:cNvPr id="16" name="Text 11"/>
          <p:cNvSpPr/>
          <p:nvPr/>
        </p:nvSpPr>
        <p:spPr>
          <a:xfrm>
            <a:off x="5577840" y="5285232"/>
            <a:ext cx="1847088" cy="256032"/>
          </a:xfrm>
          <a:prstGeom prst="rect">
            <a:avLst/>
          </a:prstGeom>
          <a:noFill/>
          <a:ln/>
        </p:spPr>
        <p:txBody>
          <a:bodyPr wrap="square" lIns="0" tIns="0" rIns="0" bIns="0" rtlCol="0" anchor="ctr">
            <a:normAutofit/>
          </a:bodyPr>
          <a:lstStyle/>
          <a:p>
            <a:pPr indent="0" marL="0">
              <a:buNone/>
            </a:pPr>
            <a:r>
              <a:rPr lang="en-US" sz="1300" b="1" dirty="0">
                <a:solidFill>
                  <a:srgbClr val="F7FCF4"/>
                </a:solidFill>
                <a:latin typeface="Segoe UI" pitchFamily="34" charset="0"/>
                <a:ea typeface="Segoe UI" pitchFamily="34" charset="-122"/>
                <a:cs typeface="Segoe UI" pitchFamily="34" charset="-120"/>
              </a:rPr>
              <a:t>ELK ON AZURE VM</a:t>
            </a:r>
            <a:endParaRPr lang="en-US" sz="1300" dirty="0"/>
          </a:p>
        </p:txBody>
      </p:sp>
      <p:sp>
        <p:nvSpPr>
          <p:cNvPr id="17" name="Text 12"/>
          <p:cNvSpPr/>
          <p:nvPr/>
        </p:nvSpPr>
        <p:spPr>
          <a:xfrm>
            <a:off x="9418320" y="5285232"/>
            <a:ext cx="1783080" cy="256032"/>
          </a:xfrm>
          <a:prstGeom prst="rect">
            <a:avLst/>
          </a:prstGeom>
          <a:noFill/>
          <a:ln/>
        </p:spPr>
        <p:txBody>
          <a:bodyPr wrap="square" lIns="0" tIns="0" rIns="0" bIns="0" rtlCol="0" anchor="ctr">
            <a:normAutofit/>
          </a:bodyPr>
          <a:lstStyle/>
          <a:p>
            <a:pPr indent="0" marL="0">
              <a:buNone/>
            </a:pPr>
            <a:r>
              <a:rPr lang="en-US" sz="1300" b="1" dirty="0">
                <a:solidFill>
                  <a:srgbClr val="F7FCF4"/>
                </a:solidFill>
                <a:latin typeface="Segoe UI" pitchFamily="34" charset="0"/>
                <a:ea typeface="Segoe UI" pitchFamily="34" charset="-122"/>
                <a:cs typeface="Segoe UI" pitchFamily="34" charset="-120"/>
              </a:rPr>
              <a:t>AZURE SQL</a:t>
            </a:r>
            <a:endParaRPr lang="en-US" sz="1300" dirty="0"/>
          </a:p>
        </p:txBody>
      </p:sp>
      <p:sp>
        <p:nvSpPr>
          <p:cNvPr id="18" name="Text 13"/>
          <p:cNvSpPr/>
          <p:nvPr/>
        </p:nvSpPr>
        <p:spPr>
          <a:xfrm>
            <a:off x="3886200" y="5257800"/>
            <a:ext cx="320040" cy="274320"/>
          </a:xfrm>
          <a:prstGeom prst="rect">
            <a:avLst/>
          </a:prstGeom>
          <a:noFill/>
          <a:ln/>
        </p:spPr>
        <p:txBody>
          <a:bodyPr wrap="square" lIns="0" tIns="0" rIns="0" bIns="0" rtlCol="0" anchor="ctr">
            <a:normAutofit/>
          </a:bodyPr>
          <a:lstStyle/>
          <a:p>
            <a:pPr indent="0" marL="0">
              <a:buNone/>
            </a:pPr>
            <a:r>
              <a:rPr lang="en-US" sz="2000" b="1" dirty="0">
                <a:solidFill>
                  <a:srgbClr val="B4DCC0"/>
                </a:solidFill>
                <a:latin typeface="Segoe UI" pitchFamily="34" charset="0"/>
                <a:ea typeface="Segoe UI" pitchFamily="34" charset="-122"/>
                <a:cs typeface="Segoe UI" pitchFamily="34" charset="-120"/>
              </a:rPr>
              <a:t>→</a:t>
            </a:r>
            <a:endParaRPr lang="en-US" sz="2000" dirty="0"/>
          </a:p>
        </p:txBody>
      </p:sp>
      <p:sp>
        <p:nvSpPr>
          <p:cNvPr id="19" name="Text 14"/>
          <p:cNvSpPr/>
          <p:nvPr/>
        </p:nvSpPr>
        <p:spPr>
          <a:xfrm>
            <a:off x="7726680" y="5257800"/>
            <a:ext cx="320040" cy="274320"/>
          </a:xfrm>
          <a:prstGeom prst="rect">
            <a:avLst/>
          </a:prstGeom>
          <a:noFill/>
          <a:ln/>
        </p:spPr>
        <p:txBody>
          <a:bodyPr wrap="square" lIns="0" tIns="0" rIns="0" bIns="0" rtlCol="0" anchor="ctr">
            <a:normAutofit/>
          </a:bodyPr>
          <a:lstStyle/>
          <a:p>
            <a:pPr indent="0" marL="0">
              <a:buNone/>
            </a:pPr>
            <a:r>
              <a:rPr lang="en-US" sz="2000" b="1" dirty="0">
                <a:solidFill>
                  <a:srgbClr val="B4DCC0"/>
                </a:solidFill>
                <a:latin typeface="Segoe UI" pitchFamily="34" charset="0"/>
                <a:ea typeface="Segoe UI" pitchFamily="34" charset="-122"/>
                <a:cs typeface="Segoe UI" pitchFamily="34" charset="-120"/>
              </a:rPr>
              <a:t>→</a:t>
            </a:r>
            <a:endParaRPr lang="en-US" sz="2000" dirty="0"/>
          </a:p>
        </p:txBody>
      </p:sp>
      <p:sp>
        <p:nvSpPr>
          <p:cNvPr id="20" name="Text 15"/>
          <p:cNvSpPr/>
          <p:nvPr/>
        </p:nvSpPr>
        <p:spPr>
          <a:xfrm>
            <a:off x="640080" y="5971032"/>
            <a:ext cx="10789920" cy="256032"/>
          </a:xfrm>
          <a:prstGeom prst="rect">
            <a:avLst/>
          </a:prstGeom>
          <a:noFill/>
          <a:ln/>
        </p:spPr>
        <p:txBody>
          <a:bodyPr wrap="square" lIns="0" tIns="0" rIns="0" bIns="0" rtlCol="0" anchor="ctr">
            <a:normAutofit/>
          </a:bodyPr>
          <a:lstStyle/>
          <a:p>
            <a:pPr indent="0" marL="0">
              <a:buNone/>
            </a:pPr>
            <a:r>
              <a:rPr lang="en-US" sz="1100" dirty="0">
                <a:solidFill>
                  <a:srgbClr val="B9D6C3"/>
                </a:solidFill>
                <a:latin typeface="Segoe UI" pitchFamily="34" charset="0"/>
                <a:ea typeface="Segoe UI" pitchFamily="34" charset="-122"/>
                <a:cs typeface="Segoe UI" pitchFamily="34" charset="-120"/>
              </a:rPr>
              <a:t>Saud  •  Retaj  •  Norah  •  Lama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GROUP 01</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02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THE TEAM</a:t>
            </a:r>
            <a:endParaRPr lang="en-US" sz="3100" dirty="0"/>
          </a:p>
        </p:txBody>
      </p:sp>
      <p:sp>
        <p:nvSpPr>
          <p:cNvPr id="8" name="Shape 6"/>
          <p:cNvSpPr/>
          <p:nvPr/>
        </p:nvSpPr>
        <p:spPr>
          <a:xfrm>
            <a:off x="594360" y="2267712"/>
            <a:ext cx="2578608" cy="2907792"/>
          </a:xfrm>
          <a:prstGeom prst="roundRect">
            <a:avLst>
              <a:gd name="adj" fmla="val 4255"/>
            </a:avLst>
          </a:prstGeom>
          <a:solidFill>
            <a:srgbClr val="F7FCF4"/>
          </a:solidFill>
          <a:ln w="13970">
            <a:solidFill>
              <a:srgbClr val="76A987"/>
            </a:solidFill>
            <a:prstDash val="solid"/>
          </a:ln>
        </p:spPr>
      </p:sp>
      <p:sp>
        <p:nvSpPr>
          <p:cNvPr id="9" name="Text 7"/>
          <p:cNvSpPr/>
          <p:nvPr/>
        </p:nvSpPr>
        <p:spPr>
          <a:xfrm>
            <a:off x="786384" y="2551176"/>
            <a:ext cx="2194560" cy="429768"/>
          </a:xfrm>
          <a:prstGeom prst="rect">
            <a:avLst/>
          </a:prstGeom>
          <a:noFill/>
          <a:ln/>
        </p:spPr>
        <p:txBody>
          <a:bodyPr wrap="square" lIns="0" tIns="0" rIns="0" bIns="0" rtlCol="0" anchor="ctr">
            <a:normAutofit/>
          </a:bodyPr>
          <a:lstStyle/>
          <a:p>
            <a:pPr indent="0" marL="0">
              <a:buNone/>
            </a:pPr>
            <a:r>
              <a:rPr lang="en-US" sz="2900" b="1" dirty="0">
                <a:solidFill>
                  <a:srgbClr val="0C6843"/>
                </a:solidFill>
                <a:latin typeface="Segoe UI" pitchFamily="34" charset="0"/>
                <a:ea typeface="Segoe UI" pitchFamily="34" charset="-122"/>
                <a:cs typeface="Segoe UI" pitchFamily="34" charset="-120"/>
              </a:rPr>
              <a:t>01</a:t>
            </a:r>
            <a:endParaRPr lang="en-US" sz="2900" dirty="0"/>
          </a:p>
        </p:txBody>
      </p:sp>
      <p:sp>
        <p:nvSpPr>
          <p:cNvPr id="10" name="Text 8"/>
          <p:cNvSpPr/>
          <p:nvPr/>
        </p:nvSpPr>
        <p:spPr>
          <a:xfrm>
            <a:off x="786384" y="3154680"/>
            <a:ext cx="2221992" cy="265176"/>
          </a:xfrm>
          <a:prstGeom prst="rect">
            <a:avLst/>
          </a:prstGeom>
          <a:noFill/>
          <a:ln/>
        </p:spPr>
        <p:txBody>
          <a:bodyPr wrap="square" lIns="0" tIns="0" rIns="0" bIns="0" rtlCol="0" anchor="ctr">
            <a:normAutofit/>
          </a:bodyPr>
          <a:lstStyle/>
          <a:p>
            <a:pPr indent="0" marL="0">
              <a:buNone/>
            </a:pPr>
            <a:r>
              <a:rPr lang="en-US" sz="1100" b="1" spc="110" kern="0" dirty="0">
                <a:solidFill>
                  <a:srgbClr val="0C6843"/>
                </a:solidFill>
                <a:latin typeface="Segoe UI" pitchFamily="34" charset="0"/>
                <a:ea typeface="Segoe UI" pitchFamily="34" charset="-122"/>
                <a:cs typeface="Segoe UI" pitchFamily="34" charset="-120"/>
              </a:rPr>
              <a:t>THE PROBLEM</a:t>
            </a:r>
            <a:endParaRPr lang="en-US" sz="1100" dirty="0"/>
          </a:p>
        </p:txBody>
      </p:sp>
      <p:sp>
        <p:nvSpPr>
          <p:cNvPr id="11" name="Text 9"/>
          <p:cNvSpPr/>
          <p:nvPr/>
        </p:nvSpPr>
        <p:spPr>
          <a:xfrm>
            <a:off x="786384" y="3630168"/>
            <a:ext cx="2194560" cy="557784"/>
          </a:xfrm>
          <a:prstGeom prst="rect">
            <a:avLst/>
          </a:prstGeom>
          <a:noFill/>
          <a:ln/>
        </p:spPr>
        <p:txBody>
          <a:bodyPr wrap="square" lIns="0" tIns="0" rIns="0" bIns="0" rtlCol="0" anchor="ctr">
            <a:normAutofit/>
          </a:bodyPr>
          <a:lstStyle/>
          <a:p>
            <a:pPr indent="0" marL="0">
              <a:buNone/>
            </a:pPr>
            <a:r>
              <a:rPr lang="en-US" sz="2300" b="1" dirty="0">
                <a:solidFill>
                  <a:srgbClr val="103624"/>
                </a:solidFill>
                <a:latin typeface="Bahnschrift" pitchFamily="34" charset="0"/>
                <a:ea typeface="Bahnschrift" pitchFamily="34" charset="-122"/>
                <a:cs typeface="Bahnschrift" pitchFamily="34" charset="-120"/>
              </a:rPr>
              <a:t>Saud</a:t>
            </a:r>
            <a:endParaRPr lang="en-US" sz="2300" dirty="0"/>
          </a:p>
        </p:txBody>
      </p:sp>
      <p:sp>
        <p:nvSpPr>
          <p:cNvPr id="12" name="Text 10"/>
          <p:cNvSpPr/>
          <p:nvPr/>
        </p:nvSpPr>
        <p:spPr>
          <a:xfrm>
            <a:off x="786384" y="4315968"/>
            <a:ext cx="2176272" cy="640080"/>
          </a:xfrm>
          <a:prstGeom prst="rect">
            <a:avLst/>
          </a:prstGeom>
          <a:noFill/>
          <a:ln/>
        </p:spPr>
        <p:txBody>
          <a:bodyPr wrap="square" lIns="0" tIns="0" rIns="0" bIns="0" rtlCol="0" anchor="ctr">
            <a:normAutofit/>
          </a:bodyPr>
          <a:lstStyle/>
          <a:p>
            <a:pPr indent="0" marL="0">
              <a:buNone/>
            </a:pPr>
            <a:r>
              <a:rPr lang="en-US" sz="1200" dirty="0">
                <a:solidFill>
                  <a:srgbClr val="315842"/>
                </a:solidFill>
                <a:latin typeface="Segoe UI" pitchFamily="34" charset="0"/>
                <a:ea typeface="Segoe UI" pitchFamily="34" charset="-122"/>
                <a:cs typeface="Segoe UI" pitchFamily="34" charset="-120"/>
              </a:rPr>
              <a:t>Project Manager &amp; Integration Lead</a:t>
            </a:r>
            <a:endParaRPr lang="en-US" sz="1200" dirty="0"/>
          </a:p>
        </p:txBody>
      </p:sp>
      <p:sp>
        <p:nvSpPr>
          <p:cNvPr id="13" name="Shape 11"/>
          <p:cNvSpPr/>
          <p:nvPr/>
        </p:nvSpPr>
        <p:spPr>
          <a:xfrm>
            <a:off x="3374136" y="2267712"/>
            <a:ext cx="2578608" cy="2907792"/>
          </a:xfrm>
          <a:prstGeom prst="roundRect">
            <a:avLst>
              <a:gd name="adj" fmla="val 4255"/>
            </a:avLst>
          </a:prstGeom>
          <a:solidFill>
            <a:srgbClr val="F7FCF4"/>
          </a:solidFill>
          <a:ln w="13970">
            <a:solidFill>
              <a:srgbClr val="76A987"/>
            </a:solidFill>
            <a:prstDash val="solid"/>
          </a:ln>
        </p:spPr>
      </p:sp>
      <p:sp>
        <p:nvSpPr>
          <p:cNvPr id="14" name="Text 12"/>
          <p:cNvSpPr/>
          <p:nvPr/>
        </p:nvSpPr>
        <p:spPr>
          <a:xfrm>
            <a:off x="3566160" y="2551176"/>
            <a:ext cx="2194560" cy="429768"/>
          </a:xfrm>
          <a:prstGeom prst="rect">
            <a:avLst/>
          </a:prstGeom>
          <a:noFill/>
          <a:ln/>
        </p:spPr>
        <p:txBody>
          <a:bodyPr wrap="square" lIns="0" tIns="0" rIns="0" bIns="0" rtlCol="0" anchor="ctr">
            <a:normAutofit/>
          </a:bodyPr>
          <a:lstStyle/>
          <a:p>
            <a:pPr indent="0" marL="0">
              <a:buNone/>
            </a:pPr>
            <a:r>
              <a:rPr lang="en-US" sz="2900" b="1" dirty="0">
                <a:solidFill>
                  <a:srgbClr val="0C6843"/>
                </a:solidFill>
                <a:latin typeface="Segoe UI" pitchFamily="34" charset="0"/>
                <a:ea typeface="Segoe UI" pitchFamily="34" charset="-122"/>
                <a:cs typeface="Segoe UI" pitchFamily="34" charset="-120"/>
              </a:rPr>
              <a:t>02</a:t>
            </a:r>
            <a:endParaRPr lang="en-US" sz="2900" dirty="0"/>
          </a:p>
        </p:txBody>
      </p:sp>
      <p:sp>
        <p:nvSpPr>
          <p:cNvPr id="15" name="Text 13"/>
          <p:cNvSpPr/>
          <p:nvPr/>
        </p:nvSpPr>
        <p:spPr>
          <a:xfrm>
            <a:off x="3566160" y="3154680"/>
            <a:ext cx="2221992" cy="265176"/>
          </a:xfrm>
          <a:prstGeom prst="rect">
            <a:avLst/>
          </a:prstGeom>
          <a:noFill/>
          <a:ln/>
        </p:spPr>
        <p:txBody>
          <a:bodyPr wrap="square" lIns="0" tIns="0" rIns="0" bIns="0" rtlCol="0" anchor="ctr">
            <a:normAutofit/>
          </a:bodyPr>
          <a:lstStyle/>
          <a:p>
            <a:pPr indent="0" marL="0">
              <a:buNone/>
            </a:pPr>
            <a:r>
              <a:rPr lang="en-US" sz="1100" b="1" spc="110" kern="0" dirty="0">
                <a:solidFill>
                  <a:srgbClr val="0C6843"/>
                </a:solidFill>
                <a:latin typeface="Segoe UI" pitchFamily="34" charset="0"/>
                <a:ea typeface="Segoe UI" pitchFamily="34" charset="-122"/>
                <a:cs typeface="Segoe UI" pitchFamily="34" charset="-120"/>
              </a:rPr>
              <a:t>THE PLATFORM</a:t>
            </a:r>
            <a:endParaRPr lang="en-US" sz="1100" dirty="0"/>
          </a:p>
        </p:txBody>
      </p:sp>
      <p:sp>
        <p:nvSpPr>
          <p:cNvPr id="16" name="Text 14"/>
          <p:cNvSpPr/>
          <p:nvPr/>
        </p:nvSpPr>
        <p:spPr>
          <a:xfrm>
            <a:off x="3566160" y="3630168"/>
            <a:ext cx="2194560" cy="557784"/>
          </a:xfrm>
          <a:prstGeom prst="rect">
            <a:avLst/>
          </a:prstGeom>
          <a:noFill/>
          <a:ln/>
        </p:spPr>
        <p:txBody>
          <a:bodyPr wrap="square" lIns="0" tIns="0" rIns="0" bIns="0" rtlCol="0" anchor="ctr">
            <a:normAutofit/>
          </a:bodyPr>
          <a:lstStyle/>
          <a:p>
            <a:pPr indent="0" marL="0">
              <a:buNone/>
            </a:pPr>
            <a:r>
              <a:rPr lang="en-US" sz="2300" b="1" dirty="0">
                <a:solidFill>
                  <a:srgbClr val="103624"/>
                </a:solidFill>
                <a:latin typeface="Bahnschrift" pitchFamily="34" charset="0"/>
                <a:ea typeface="Bahnschrift" pitchFamily="34" charset="-122"/>
                <a:cs typeface="Bahnschrift" pitchFamily="34" charset="-120"/>
              </a:rPr>
              <a:t>Retaj</a:t>
            </a:r>
            <a:endParaRPr lang="en-US" sz="2300" dirty="0"/>
          </a:p>
        </p:txBody>
      </p:sp>
      <p:sp>
        <p:nvSpPr>
          <p:cNvPr id="17" name="Text 15"/>
          <p:cNvSpPr/>
          <p:nvPr/>
        </p:nvSpPr>
        <p:spPr>
          <a:xfrm>
            <a:off x="3566160" y="4315968"/>
            <a:ext cx="2176272" cy="640080"/>
          </a:xfrm>
          <a:prstGeom prst="rect">
            <a:avLst/>
          </a:prstGeom>
          <a:noFill/>
          <a:ln/>
        </p:spPr>
        <p:txBody>
          <a:bodyPr wrap="square" lIns="0" tIns="0" rIns="0" bIns="0" rtlCol="0" anchor="ctr">
            <a:normAutofit/>
          </a:bodyPr>
          <a:lstStyle/>
          <a:p>
            <a:pPr indent="0" marL="0">
              <a:buNone/>
            </a:pPr>
            <a:r>
              <a:rPr lang="en-US" sz="1200" dirty="0">
                <a:solidFill>
                  <a:srgbClr val="315842"/>
                </a:solidFill>
                <a:latin typeface="Segoe UI" pitchFamily="34" charset="0"/>
                <a:ea typeface="Segoe UI" pitchFamily="34" charset="-122"/>
                <a:cs typeface="Segoe UI" pitchFamily="34" charset="-120"/>
              </a:rPr>
              <a:t>Cloud Infrastructure &amp; ELK Platform</a:t>
            </a:r>
            <a:endParaRPr lang="en-US" sz="1200" dirty="0"/>
          </a:p>
        </p:txBody>
      </p:sp>
      <p:sp>
        <p:nvSpPr>
          <p:cNvPr id="18" name="Shape 16"/>
          <p:cNvSpPr/>
          <p:nvPr/>
        </p:nvSpPr>
        <p:spPr>
          <a:xfrm>
            <a:off x="6153912" y="2267712"/>
            <a:ext cx="2578608" cy="2907792"/>
          </a:xfrm>
          <a:prstGeom prst="roundRect">
            <a:avLst>
              <a:gd name="adj" fmla="val 4255"/>
            </a:avLst>
          </a:prstGeom>
          <a:solidFill>
            <a:srgbClr val="F7FCF4"/>
          </a:solidFill>
          <a:ln w="13970">
            <a:solidFill>
              <a:srgbClr val="76A987"/>
            </a:solidFill>
            <a:prstDash val="solid"/>
          </a:ln>
        </p:spPr>
      </p:sp>
      <p:sp>
        <p:nvSpPr>
          <p:cNvPr id="19" name="Text 17"/>
          <p:cNvSpPr/>
          <p:nvPr/>
        </p:nvSpPr>
        <p:spPr>
          <a:xfrm>
            <a:off x="6345936" y="2551176"/>
            <a:ext cx="2194560" cy="429768"/>
          </a:xfrm>
          <a:prstGeom prst="rect">
            <a:avLst/>
          </a:prstGeom>
          <a:noFill/>
          <a:ln/>
        </p:spPr>
        <p:txBody>
          <a:bodyPr wrap="square" lIns="0" tIns="0" rIns="0" bIns="0" rtlCol="0" anchor="ctr">
            <a:normAutofit/>
          </a:bodyPr>
          <a:lstStyle/>
          <a:p>
            <a:pPr indent="0" marL="0">
              <a:buNone/>
            </a:pPr>
            <a:r>
              <a:rPr lang="en-US" sz="2900" b="1" dirty="0">
                <a:solidFill>
                  <a:srgbClr val="0C6843"/>
                </a:solidFill>
                <a:latin typeface="Segoe UI" pitchFamily="34" charset="0"/>
                <a:ea typeface="Segoe UI" pitchFamily="34" charset="-122"/>
                <a:cs typeface="Segoe UI" pitchFamily="34" charset="-120"/>
              </a:rPr>
              <a:t>03</a:t>
            </a:r>
            <a:endParaRPr lang="en-US" sz="2900" dirty="0"/>
          </a:p>
        </p:txBody>
      </p:sp>
      <p:sp>
        <p:nvSpPr>
          <p:cNvPr id="20" name="Text 18"/>
          <p:cNvSpPr/>
          <p:nvPr/>
        </p:nvSpPr>
        <p:spPr>
          <a:xfrm>
            <a:off x="6345936" y="3154680"/>
            <a:ext cx="2221992" cy="265176"/>
          </a:xfrm>
          <a:prstGeom prst="rect">
            <a:avLst/>
          </a:prstGeom>
          <a:noFill/>
          <a:ln/>
        </p:spPr>
        <p:txBody>
          <a:bodyPr wrap="square" lIns="0" tIns="0" rIns="0" bIns="0" rtlCol="0" anchor="ctr">
            <a:normAutofit/>
          </a:bodyPr>
          <a:lstStyle/>
          <a:p>
            <a:pPr indent="0" marL="0">
              <a:buNone/>
            </a:pPr>
            <a:r>
              <a:rPr lang="en-US" sz="1100" b="1" spc="110" kern="0" dirty="0">
                <a:solidFill>
                  <a:srgbClr val="0C6843"/>
                </a:solidFill>
                <a:latin typeface="Segoe UI" pitchFamily="34" charset="0"/>
                <a:ea typeface="Segoe UI" pitchFamily="34" charset="-122"/>
                <a:cs typeface="Segoe UI" pitchFamily="34" charset="-120"/>
              </a:rPr>
              <a:t>THE INCIDENT</a:t>
            </a:r>
            <a:endParaRPr lang="en-US" sz="1100" dirty="0"/>
          </a:p>
        </p:txBody>
      </p:sp>
      <p:sp>
        <p:nvSpPr>
          <p:cNvPr id="21" name="Text 19"/>
          <p:cNvSpPr/>
          <p:nvPr/>
        </p:nvSpPr>
        <p:spPr>
          <a:xfrm>
            <a:off x="6345936" y="3630168"/>
            <a:ext cx="2194560" cy="557784"/>
          </a:xfrm>
          <a:prstGeom prst="rect">
            <a:avLst/>
          </a:prstGeom>
          <a:noFill/>
          <a:ln/>
        </p:spPr>
        <p:txBody>
          <a:bodyPr wrap="square" lIns="0" tIns="0" rIns="0" bIns="0" rtlCol="0" anchor="ctr">
            <a:normAutofit/>
          </a:bodyPr>
          <a:lstStyle/>
          <a:p>
            <a:pPr indent="0" marL="0">
              <a:buNone/>
            </a:pPr>
            <a:r>
              <a:rPr lang="en-US" sz="2300" b="1" dirty="0">
                <a:solidFill>
                  <a:srgbClr val="103624"/>
                </a:solidFill>
                <a:latin typeface="Bahnschrift" pitchFamily="34" charset="0"/>
                <a:ea typeface="Bahnschrift" pitchFamily="34" charset="-122"/>
                <a:cs typeface="Bahnschrift" pitchFamily="34" charset="-120"/>
              </a:rPr>
              <a:t>Norah</a:t>
            </a:r>
            <a:endParaRPr lang="en-US" sz="2300" dirty="0"/>
          </a:p>
        </p:txBody>
      </p:sp>
      <p:sp>
        <p:nvSpPr>
          <p:cNvPr id="22" name="Text 20"/>
          <p:cNvSpPr/>
          <p:nvPr/>
        </p:nvSpPr>
        <p:spPr>
          <a:xfrm>
            <a:off x="6345936" y="4315968"/>
            <a:ext cx="2176272" cy="640080"/>
          </a:xfrm>
          <a:prstGeom prst="rect">
            <a:avLst/>
          </a:prstGeom>
          <a:noFill/>
          <a:ln/>
        </p:spPr>
        <p:txBody>
          <a:bodyPr wrap="square" lIns="0" tIns="0" rIns="0" bIns="0" rtlCol="0" anchor="ctr">
            <a:normAutofit/>
          </a:bodyPr>
          <a:lstStyle/>
          <a:p>
            <a:pPr indent="0" marL="0">
              <a:buNone/>
            </a:pPr>
            <a:r>
              <a:rPr lang="en-US" sz="1200" dirty="0">
                <a:solidFill>
                  <a:srgbClr val="315842"/>
                </a:solidFill>
                <a:latin typeface="Segoe UI" pitchFamily="34" charset="0"/>
                <a:ea typeface="Segoe UI" pitchFamily="34" charset="-122"/>
                <a:cs typeface="Segoe UI" pitchFamily="34" charset="-120"/>
              </a:rPr>
              <a:t>ELK Data Pipeline</a:t>
            </a:r>
            <a:endParaRPr lang="en-US" sz="1200" dirty="0"/>
          </a:p>
        </p:txBody>
      </p:sp>
      <p:sp>
        <p:nvSpPr>
          <p:cNvPr id="23" name="Shape 21"/>
          <p:cNvSpPr/>
          <p:nvPr/>
        </p:nvSpPr>
        <p:spPr>
          <a:xfrm>
            <a:off x="8933688" y="2267712"/>
            <a:ext cx="2578608" cy="2907792"/>
          </a:xfrm>
          <a:prstGeom prst="roundRect">
            <a:avLst>
              <a:gd name="adj" fmla="val 4255"/>
            </a:avLst>
          </a:prstGeom>
          <a:solidFill>
            <a:srgbClr val="F7FCF4"/>
          </a:solidFill>
          <a:ln w="13970">
            <a:solidFill>
              <a:srgbClr val="76A987"/>
            </a:solidFill>
            <a:prstDash val="solid"/>
          </a:ln>
        </p:spPr>
      </p:sp>
      <p:sp>
        <p:nvSpPr>
          <p:cNvPr id="24" name="Text 22"/>
          <p:cNvSpPr/>
          <p:nvPr/>
        </p:nvSpPr>
        <p:spPr>
          <a:xfrm>
            <a:off x="9125712" y="2551176"/>
            <a:ext cx="2194560" cy="429768"/>
          </a:xfrm>
          <a:prstGeom prst="rect">
            <a:avLst/>
          </a:prstGeom>
          <a:noFill/>
          <a:ln/>
        </p:spPr>
        <p:txBody>
          <a:bodyPr wrap="square" lIns="0" tIns="0" rIns="0" bIns="0" rtlCol="0" anchor="ctr">
            <a:normAutofit/>
          </a:bodyPr>
          <a:lstStyle/>
          <a:p>
            <a:pPr indent="0" marL="0">
              <a:buNone/>
            </a:pPr>
            <a:r>
              <a:rPr lang="en-US" sz="2900" b="1" dirty="0">
                <a:solidFill>
                  <a:srgbClr val="0C6843"/>
                </a:solidFill>
                <a:latin typeface="Segoe UI" pitchFamily="34" charset="0"/>
                <a:ea typeface="Segoe UI" pitchFamily="34" charset="-122"/>
                <a:cs typeface="Segoe UI" pitchFamily="34" charset="-120"/>
              </a:rPr>
              <a:t>04</a:t>
            </a:r>
            <a:endParaRPr lang="en-US" sz="2900" dirty="0"/>
          </a:p>
        </p:txBody>
      </p:sp>
      <p:sp>
        <p:nvSpPr>
          <p:cNvPr id="25" name="Text 23"/>
          <p:cNvSpPr/>
          <p:nvPr/>
        </p:nvSpPr>
        <p:spPr>
          <a:xfrm>
            <a:off x="9125712" y="3154680"/>
            <a:ext cx="2221992" cy="265176"/>
          </a:xfrm>
          <a:prstGeom prst="rect">
            <a:avLst/>
          </a:prstGeom>
          <a:noFill/>
          <a:ln/>
        </p:spPr>
        <p:txBody>
          <a:bodyPr wrap="square" lIns="0" tIns="0" rIns="0" bIns="0" rtlCol="0" anchor="ctr">
            <a:normAutofit/>
          </a:bodyPr>
          <a:lstStyle/>
          <a:p>
            <a:pPr indent="0" marL="0">
              <a:buNone/>
            </a:pPr>
            <a:r>
              <a:rPr lang="en-US" sz="1100" b="1" spc="110" kern="0" dirty="0">
                <a:solidFill>
                  <a:srgbClr val="0C6843"/>
                </a:solidFill>
                <a:latin typeface="Segoe UI" pitchFamily="34" charset="0"/>
                <a:ea typeface="Segoe UI" pitchFamily="34" charset="-122"/>
                <a:cs typeface="Segoe UI" pitchFamily="34" charset="-120"/>
              </a:rPr>
              <a:t>THE PROOF</a:t>
            </a:r>
            <a:endParaRPr lang="en-US" sz="1100" dirty="0"/>
          </a:p>
        </p:txBody>
      </p:sp>
      <p:sp>
        <p:nvSpPr>
          <p:cNvPr id="26" name="Text 24"/>
          <p:cNvSpPr/>
          <p:nvPr/>
        </p:nvSpPr>
        <p:spPr>
          <a:xfrm>
            <a:off x="9125712" y="3630168"/>
            <a:ext cx="2194560" cy="557784"/>
          </a:xfrm>
          <a:prstGeom prst="rect">
            <a:avLst/>
          </a:prstGeom>
          <a:noFill/>
          <a:ln/>
        </p:spPr>
        <p:txBody>
          <a:bodyPr wrap="square" lIns="0" tIns="0" rIns="0" bIns="0" rtlCol="0" anchor="ctr">
            <a:normAutofit/>
          </a:bodyPr>
          <a:lstStyle/>
          <a:p>
            <a:pPr indent="0" marL="0">
              <a:buNone/>
            </a:pPr>
            <a:r>
              <a:rPr lang="en-US" sz="2300" b="1" dirty="0">
                <a:solidFill>
                  <a:srgbClr val="103624"/>
                </a:solidFill>
                <a:latin typeface="Bahnschrift" pitchFamily="34" charset="0"/>
                <a:ea typeface="Bahnschrift" pitchFamily="34" charset="-122"/>
                <a:cs typeface="Bahnschrift" pitchFamily="34" charset="-120"/>
              </a:rPr>
              <a:t>Lama</a:t>
            </a:r>
            <a:endParaRPr lang="en-US" sz="2300" dirty="0"/>
          </a:p>
        </p:txBody>
      </p:sp>
      <p:sp>
        <p:nvSpPr>
          <p:cNvPr id="27" name="Text 25"/>
          <p:cNvSpPr/>
          <p:nvPr/>
        </p:nvSpPr>
        <p:spPr>
          <a:xfrm>
            <a:off x="9125712" y="4315968"/>
            <a:ext cx="2176272" cy="640080"/>
          </a:xfrm>
          <a:prstGeom prst="rect">
            <a:avLst/>
          </a:prstGeom>
          <a:noFill/>
          <a:ln/>
        </p:spPr>
        <p:txBody>
          <a:bodyPr wrap="square" lIns="0" tIns="0" rIns="0" bIns="0" rtlCol="0" anchor="ctr">
            <a:normAutofit/>
          </a:bodyPr>
          <a:lstStyle/>
          <a:p>
            <a:pPr indent="0" marL="0">
              <a:buNone/>
            </a:pPr>
            <a:r>
              <a:rPr lang="en-US" sz="1200" dirty="0">
                <a:solidFill>
                  <a:srgbClr val="315842"/>
                </a:solidFill>
                <a:latin typeface="Segoe UI" pitchFamily="34" charset="0"/>
                <a:ea typeface="Segoe UI" pitchFamily="34" charset="-122"/>
                <a:cs typeface="Segoe UI" pitchFamily="34" charset="-120"/>
              </a:rPr>
              <a:t>Automation, Kibana &amp; Demo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01 / THE PROBLEM</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03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Ghost Order: payment approved, order missing</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The proposal used this failure to test whether logs could explain a checkout across services.</a:t>
            </a:r>
            <a:endParaRPr lang="en-US" sz="1700" dirty="0"/>
          </a:p>
        </p:txBody>
      </p:sp>
      <p:sp>
        <p:nvSpPr>
          <p:cNvPr id="9" name="Shape 7"/>
          <p:cNvSpPr/>
          <p:nvPr/>
        </p:nvSpPr>
        <p:spPr>
          <a:xfrm>
            <a:off x="612648" y="2084832"/>
            <a:ext cx="4873752" cy="3401568"/>
          </a:xfrm>
          <a:prstGeom prst="roundRect">
            <a:avLst>
              <a:gd name="adj" fmla="val 3226"/>
            </a:avLst>
          </a:prstGeom>
          <a:solidFill>
            <a:srgbClr val="F7FCF4"/>
          </a:solidFill>
          <a:ln w="13970">
            <a:solidFill>
              <a:srgbClr val="76A987"/>
            </a:solidFill>
            <a:prstDash val="solid"/>
          </a:ln>
        </p:spPr>
      </p:sp>
      <p:sp>
        <p:nvSpPr>
          <p:cNvPr id="10" name="Shape 8"/>
          <p:cNvSpPr/>
          <p:nvPr/>
        </p:nvSpPr>
        <p:spPr>
          <a:xfrm>
            <a:off x="905256" y="2386584"/>
            <a:ext cx="2048256" cy="310896"/>
          </a:xfrm>
          <a:prstGeom prst="roundRect">
            <a:avLst>
              <a:gd name="adj" fmla="val 23529"/>
            </a:avLst>
          </a:prstGeom>
          <a:solidFill>
            <a:srgbClr val="BBDDC2"/>
          </a:solidFill>
          <a:ln w="12700">
            <a:solidFill>
              <a:srgbClr val="BBDDC2"/>
            </a:solidFill>
            <a:prstDash val="solid"/>
          </a:ln>
        </p:spPr>
      </p:sp>
      <p:sp>
        <p:nvSpPr>
          <p:cNvPr id="11" name="Text 9"/>
          <p:cNvSpPr/>
          <p:nvPr/>
        </p:nvSpPr>
        <p:spPr>
          <a:xfrm>
            <a:off x="1014984" y="2414016"/>
            <a:ext cx="1828800" cy="246888"/>
          </a:xfrm>
          <a:prstGeom prst="rect">
            <a:avLst/>
          </a:prstGeom>
          <a:noFill/>
          <a:ln/>
        </p:spPr>
        <p:txBody>
          <a:bodyPr wrap="square" lIns="0" tIns="0" rIns="0" bIns="0" rtlCol="0" anchor="ctr">
            <a:normAutofit/>
          </a:bodyPr>
          <a:lstStyle/>
          <a:p>
            <a:pPr indent="0" marL="0">
              <a:buNone/>
            </a:pPr>
            <a:r>
              <a:rPr lang="en-US" sz="1000" b="1" spc="110" kern="0" dirty="0">
                <a:solidFill>
                  <a:srgbClr val="0C6843"/>
                </a:solidFill>
                <a:latin typeface="Segoe UI" pitchFamily="34" charset="0"/>
                <a:ea typeface="Segoe UI" pitchFamily="34" charset="-122"/>
                <a:cs typeface="Segoe UI" pitchFamily="34" charset="-120"/>
              </a:rPr>
              <a:t>SIMULATED CHECKOUT</a:t>
            </a:r>
            <a:endParaRPr lang="en-US" sz="1000" dirty="0"/>
          </a:p>
        </p:txBody>
      </p:sp>
      <p:sp>
        <p:nvSpPr>
          <p:cNvPr id="12" name="Text 10"/>
          <p:cNvSpPr/>
          <p:nvPr/>
        </p:nvSpPr>
        <p:spPr>
          <a:xfrm>
            <a:off x="923544" y="3035808"/>
            <a:ext cx="1828800" cy="256032"/>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PAYMENT</a:t>
            </a:r>
            <a:endParaRPr lang="en-US" sz="1100" dirty="0"/>
          </a:p>
        </p:txBody>
      </p:sp>
      <p:sp>
        <p:nvSpPr>
          <p:cNvPr id="13" name="Text 11"/>
          <p:cNvSpPr/>
          <p:nvPr/>
        </p:nvSpPr>
        <p:spPr>
          <a:xfrm>
            <a:off x="3127248" y="3008376"/>
            <a:ext cx="1965960" cy="329184"/>
          </a:xfrm>
          <a:prstGeom prst="rect">
            <a:avLst/>
          </a:prstGeom>
          <a:noFill/>
          <a:ln/>
        </p:spPr>
        <p:txBody>
          <a:bodyPr wrap="square" lIns="0" tIns="0" rIns="0" bIns="0" rtlCol="0" anchor="ctr">
            <a:normAutofit/>
          </a:bodyPr>
          <a:lstStyle/>
          <a:p>
            <a:pPr algn="r" indent="0" marL="0">
              <a:buNone/>
            </a:pPr>
            <a:r>
              <a:rPr lang="en-US" sz="2000" b="1" dirty="0">
                <a:solidFill>
                  <a:srgbClr val="0C6843"/>
                </a:solidFill>
                <a:latin typeface="Segoe UI" pitchFamily="34" charset="0"/>
                <a:ea typeface="Segoe UI" pitchFamily="34" charset="-122"/>
                <a:cs typeface="Segoe UI" pitchFamily="34" charset="-120"/>
              </a:rPr>
              <a:t>Authorized</a:t>
            </a:r>
            <a:endParaRPr lang="en-US" sz="2000" dirty="0"/>
          </a:p>
        </p:txBody>
      </p:sp>
      <p:sp>
        <p:nvSpPr>
          <p:cNvPr id="14" name="Shape 12"/>
          <p:cNvSpPr/>
          <p:nvPr/>
        </p:nvSpPr>
        <p:spPr>
          <a:xfrm>
            <a:off x="914400" y="3575304"/>
            <a:ext cx="4187952" cy="0"/>
          </a:xfrm>
          <a:prstGeom prst="line">
            <a:avLst/>
          </a:prstGeom>
          <a:noFill/>
          <a:ln w="12700">
            <a:solidFill>
              <a:srgbClr val="76A987"/>
            </a:solidFill>
            <a:prstDash val="solid"/>
          </a:ln>
        </p:spPr>
      </p:sp>
      <p:sp>
        <p:nvSpPr>
          <p:cNvPr id="15" name="Text 13"/>
          <p:cNvSpPr/>
          <p:nvPr/>
        </p:nvSpPr>
        <p:spPr>
          <a:xfrm>
            <a:off x="923544" y="3831336"/>
            <a:ext cx="1828800" cy="256032"/>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ORDER</a:t>
            </a:r>
            <a:endParaRPr lang="en-US" sz="1100" dirty="0"/>
          </a:p>
        </p:txBody>
      </p:sp>
      <p:sp>
        <p:nvSpPr>
          <p:cNvPr id="16" name="Text 14"/>
          <p:cNvSpPr/>
          <p:nvPr/>
        </p:nvSpPr>
        <p:spPr>
          <a:xfrm>
            <a:off x="2980944" y="3785616"/>
            <a:ext cx="2112264" cy="356616"/>
          </a:xfrm>
          <a:prstGeom prst="rect">
            <a:avLst/>
          </a:prstGeom>
          <a:noFill/>
          <a:ln/>
        </p:spPr>
        <p:txBody>
          <a:bodyPr wrap="square" lIns="0" tIns="0" rIns="0" bIns="0" rtlCol="0" anchor="ctr">
            <a:normAutofit/>
          </a:bodyPr>
          <a:lstStyle/>
          <a:p>
            <a:pPr algn="r" indent="0" marL="0">
              <a:buNone/>
            </a:pPr>
            <a:r>
              <a:rPr lang="en-US" sz="2000" b="1" dirty="0">
                <a:solidFill>
                  <a:srgbClr val="A94332"/>
                </a:solidFill>
                <a:latin typeface="Segoe UI" pitchFamily="34" charset="0"/>
                <a:ea typeface="Segoe UI" pitchFamily="34" charset="-122"/>
                <a:cs typeface="Segoe UI" pitchFamily="34" charset="-120"/>
              </a:rPr>
              <a:t>Not created</a:t>
            </a:r>
            <a:endParaRPr lang="en-US" sz="2000" dirty="0"/>
          </a:p>
        </p:txBody>
      </p:sp>
      <p:sp>
        <p:nvSpPr>
          <p:cNvPr id="17" name="Shape 15"/>
          <p:cNvSpPr/>
          <p:nvPr/>
        </p:nvSpPr>
        <p:spPr>
          <a:xfrm>
            <a:off x="914400" y="4636008"/>
            <a:ext cx="4187952" cy="521208"/>
          </a:xfrm>
          <a:prstGeom prst="roundRect">
            <a:avLst>
              <a:gd name="adj" fmla="val 21053"/>
            </a:avLst>
          </a:prstGeom>
          <a:solidFill>
            <a:srgbClr val="F6DDD3"/>
          </a:solidFill>
          <a:ln w="12700">
            <a:solidFill>
              <a:srgbClr val="F6DDD3"/>
            </a:solidFill>
            <a:prstDash val="solid"/>
          </a:ln>
        </p:spPr>
      </p:sp>
      <p:sp>
        <p:nvSpPr>
          <p:cNvPr id="18" name="Text 16"/>
          <p:cNvSpPr/>
          <p:nvPr/>
        </p:nvSpPr>
        <p:spPr>
          <a:xfrm>
            <a:off x="1106424" y="4754880"/>
            <a:ext cx="3785616" cy="237744"/>
          </a:xfrm>
          <a:prstGeom prst="rect">
            <a:avLst/>
          </a:prstGeom>
          <a:noFill/>
          <a:ln/>
        </p:spPr>
        <p:txBody>
          <a:bodyPr wrap="square" lIns="0" tIns="0" rIns="0" bIns="0" rtlCol="0" anchor="ctr">
            <a:normAutofit/>
          </a:bodyPr>
          <a:lstStyle/>
          <a:p>
            <a:pPr indent="0" marL="0">
              <a:buNone/>
            </a:pPr>
            <a:r>
              <a:rPr lang="en-US" sz="1600" b="1" dirty="0">
                <a:solidFill>
                  <a:srgbClr val="A94332"/>
                </a:solidFill>
                <a:latin typeface="Segoe UI" pitchFamily="34" charset="0"/>
                <a:ea typeface="Segoe UI" pitchFamily="34" charset="-122"/>
                <a:cs typeface="Segoe UI" pitchFamily="34" charset="-120"/>
              </a:rPr>
              <a:t>HTTP 500  /  Ghost Order</a:t>
            </a:r>
            <a:endParaRPr lang="en-US" sz="1600" dirty="0"/>
          </a:p>
        </p:txBody>
      </p:sp>
      <p:sp>
        <p:nvSpPr>
          <p:cNvPr id="19" name="Shape 17"/>
          <p:cNvSpPr/>
          <p:nvPr/>
        </p:nvSpPr>
        <p:spPr>
          <a:xfrm>
            <a:off x="5879592" y="2084832"/>
            <a:ext cx="5660136" cy="3401568"/>
          </a:xfrm>
          <a:prstGeom prst="roundRect">
            <a:avLst>
              <a:gd name="adj" fmla="val 3226"/>
            </a:avLst>
          </a:prstGeom>
          <a:solidFill>
            <a:srgbClr val="073D2B"/>
          </a:solidFill>
          <a:ln w="12700">
            <a:solidFill>
              <a:srgbClr val="073D2B"/>
            </a:solidFill>
            <a:prstDash val="solid"/>
          </a:ln>
        </p:spPr>
      </p:sp>
      <p:sp>
        <p:nvSpPr>
          <p:cNvPr id="20" name="Text 18"/>
          <p:cNvSpPr/>
          <p:nvPr/>
        </p:nvSpPr>
        <p:spPr>
          <a:xfrm>
            <a:off x="6144768" y="2340864"/>
            <a:ext cx="5056632" cy="603504"/>
          </a:xfrm>
          <a:prstGeom prst="rect">
            <a:avLst/>
          </a:prstGeom>
          <a:noFill/>
          <a:ln/>
        </p:spPr>
        <p:txBody>
          <a:bodyPr wrap="square" lIns="0" tIns="0" rIns="0" bIns="0" rtlCol="0" anchor="ctr">
            <a:normAutofit/>
          </a:bodyPr>
          <a:lstStyle/>
          <a:p>
            <a:pPr indent="0" marL="0">
              <a:buNone/>
            </a:pPr>
            <a:r>
              <a:rPr lang="en-US" sz="2700" b="1" dirty="0">
                <a:solidFill>
                  <a:srgbClr val="F7FCF4"/>
                </a:solidFill>
                <a:latin typeface="Bahnschrift" pitchFamily="34" charset="0"/>
                <a:ea typeface="Bahnschrift" pitchFamily="34" charset="-122"/>
                <a:cs typeface="Bahnschrift" pitchFamily="34" charset="-120"/>
              </a:rPr>
              <a:t>Evidence the operator needs</a:t>
            </a:r>
            <a:endParaRPr lang="en-US" sz="2700" dirty="0"/>
          </a:p>
        </p:txBody>
      </p:sp>
      <p:sp>
        <p:nvSpPr>
          <p:cNvPr id="21" name="Shape 19"/>
          <p:cNvSpPr/>
          <p:nvPr/>
        </p:nvSpPr>
        <p:spPr>
          <a:xfrm>
            <a:off x="6172200" y="3145536"/>
            <a:ext cx="109728" cy="109728"/>
          </a:xfrm>
          <a:prstGeom prst="ellipse">
            <a:avLst/>
          </a:prstGeom>
          <a:solidFill>
            <a:srgbClr val="B4DCC0"/>
          </a:solidFill>
          <a:ln w="12700">
            <a:solidFill>
              <a:srgbClr val="B4DCC0"/>
            </a:solidFill>
            <a:prstDash val="solid"/>
          </a:ln>
        </p:spPr>
      </p:sp>
      <p:sp>
        <p:nvSpPr>
          <p:cNvPr id="22" name="Text 20"/>
          <p:cNvSpPr/>
          <p:nvPr/>
        </p:nvSpPr>
        <p:spPr>
          <a:xfrm>
            <a:off x="6455664" y="3063240"/>
            <a:ext cx="4681728" cy="310896"/>
          </a:xfrm>
          <a:prstGeom prst="rect">
            <a:avLst/>
          </a:prstGeom>
          <a:noFill/>
          <a:ln/>
        </p:spPr>
        <p:txBody>
          <a:bodyPr wrap="square" lIns="0" tIns="0" rIns="0" bIns="0" rtlCol="0" anchor="ctr">
            <a:normAutofit/>
          </a:bodyPr>
          <a:lstStyle/>
          <a:p>
            <a:pPr indent="0" marL="0">
              <a:buNone/>
            </a:pPr>
            <a:r>
              <a:rPr lang="en-US" sz="1700" dirty="0">
                <a:solidFill>
                  <a:srgbClr val="F7FCF4"/>
                </a:solidFill>
                <a:latin typeface="Segoe UI" pitchFamily="34" charset="0"/>
                <a:ea typeface="Segoe UI" pitchFamily="34" charset="-122"/>
                <a:cs typeface="Segoe UI" pitchFamily="34" charset="-120"/>
              </a:rPr>
              <a:t>Failing service: order-service</a:t>
            </a:r>
            <a:endParaRPr lang="en-US" sz="1700" dirty="0"/>
          </a:p>
        </p:txBody>
      </p:sp>
      <p:sp>
        <p:nvSpPr>
          <p:cNvPr id="23" name="Shape 21"/>
          <p:cNvSpPr/>
          <p:nvPr/>
        </p:nvSpPr>
        <p:spPr>
          <a:xfrm>
            <a:off x="6172200" y="3666744"/>
            <a:ext cx="109728" cy="109728"/>
          </a:xfrm>
          <a:prstGeom prst="ellipse">
            <a:avLst/>
          </a:prstGeom>
          <a:solidFill>
            <a:srgbClr val="B4DCC0"/>
          </a:solidFill>
          <a:ln w="12700">
            <a:solidFill>
              <a:srgbClr val="B4DCC0"/>
            </a:solidFill>
            <a:prstDash val="solid"/>
          </a:ln>
        </p:spPr>
      </p:sp>
      <p:sp>
        <p:nvSpPr>
          <p:cNvPr id="24" name="Text 22"/>
          <p:cNvSpPr/>
          <p:nvPr/>
        </p:nvSpPr>
        <p:spPr>
          <a:xfrm>
            <a:off x="6455664" y="3584448"/>
            <a:ext cx="4681728" cy="310896"/>
          </a:xfrm>
          <a:prstGeom prst="rect">
            <a:avLst/>
          </a:prstGeom>
          <a:noFill/>
          <a:ln/>
        </p:spPr>
        <p:txBody>
          <a:bodyPr wrap="square" lIns="0" tIns="0" rIns="0" bIns="0" rtlCol="0" anchor="ctr">
            <a:normAutofit/>
          </a:bodyPr>
          <a:lstStyle/>
          <a:p>
            <a:pPr indent="0" marL="0">
              <a:buNone/>
            </a:pPr>
            <a:r>
              <a:rPr lang="en-US" sz="1700" dirty="0">
                <a:solidFill>
                  <a:srgbClr val="F7FCF4"/>
                </a:solidFill>
                <a:latin typeface="Segoe UI" pitchFamily="34" charset="0"/>
                <a:ea typeface="Segoe UI" pitchFamily="34" charset="-122"/>
                <a:cs typeface="Segoe UI" pitchFamily="34" charset="-120"/>
              </a:rPr>
              <a:t>Payment status: authorized</a:t>
            </a:r>
            <a:endParaRPr lang="en-US" sz="1700" dirty="0"/>
          </a:p>
        </p:txBody>
      </p:sp>
      <p:sp>
        <p:nvSpPr>
          <p:cNvPr id="25" name="Shape 23"/>
          <p:cNvSpPr/>
          <p:nvPr/>
        </p:nvSpPr>
        <p:spPr>
          <a:xfrm>
            <a:off x="6172200" y="4187952"/>
            <a:ext cx="109728" cy="109728"/>
          </a:xfrm>
          <a:prstGeom prst="ellipse">
            <a:avLst/>
          </a:prstGeom>
          <a:solidFill>
            <a:srgbClr val="B4DCC0"/>
          </a:solidFill>
          <a:ln w="12700">
            <a:solidFill>
              <a:srgbClr val="B4DCC0"/>
            </a:solidFill>
            <a:prstDash val="solid"/>
          </a:ln>
        </p:spPr>
      </p:sp>
      <p:sp>
        <p:nvSpPr>
          <p:cNvPr id="26" name="Text 24"/>
          <p:cNvSpPr/>
          <p:nvPr/>
        </p:nvSpPr>
        <p:spPr>
          <a:xfrm>
            <a:off x="6455664" y="4105656"/>
            <a:ext cx="4681728" cy="310896"/>
          </a:xfrm>
          <a:prstGeom prst="rect">
            <a:avLst/>
          </a:prstGeom>
          <a:noFill/>
          <a:ln/>
        </p:spPr>
        <p:txBody>
          <a:bodyPr wrap="square" lIns="0" tIns="0" rIns="0" bIns="0" rtlCol="0" anchor="ctr">
            <a:normAutofit/>
          </a:bodyPr>
          <a:lstStyle/>
          <a:p>
            <a:pPr indent="0" marL="0">
              <a:buNone/>
            </a:pPr>
            <a:r>
              <a:rPr lang="en-US" sz="1700" dirty="0">
                <a:solidFill>
                  <a:srgbClr val="F7FCF4"/>
                </a:solidFill>
                <a:latin typeface="Segoe UI" pitchFamily="34" charset="0"/>
                <a:ea typeface="Segoe UI" pitchFamily="34" charset="-122"/>
                <a:cs typeface="Segoe UI" pitchFamily="34" charset="-120"/>
              </a:rPr>
              <a:t>Cause: database connection timeout</a:t>
            </a:r>
            <a:endParaRPr lang="en-US" sz="1700" dirty="0"/>
          </a:p>
        </p:txBody>
      </p:sp>
      <p:sp>
        <p:nvSpPr>
          <p:cNvPr id="27" name="Shape 25"/>
          <p:cNvSpPr/>
          <p:nvPr/>
        </p:nvSpPr>
        <p:spPr>
          <a:xfrm>
            <a:off x="6172200" y="4709160"/>
            <a:ext cx="109728" cy="109728"/>
          </a:xfrm>
          <a:prstGeom prst="ellipse">
            <a:avLst/>
          </a:prstGeom>
          <a:solidFill>
            <a:srgbClr val="B4DCC0"/>
          </a:solidFill>
          <a:ln w="12700">
            <a:solidFill>
              <a:srgbClr val="B4DCC0"/>
            </a:solidFill>
            <a:prstDash val="solid"/>
          </a:ln>
        </p:spPr>
      </p:sp>
      <p:sp>
        <p:nvSpPr>
          <p:cNvPr id="28" name="Text 26"/>
          <p:cNvSpPr/>
          <p:nvPr/>
        </p:nvSpPr>
        <p:spPr>
          <a:xfrm>
            <a:off x="6455664" y="4626864"/>
            <a:ext cx="4681728" cy="310896"/>
          </a:xfrm>
          <a:prstGeom prst="rect">
            <a:avLst/>
          </a:prstGeom>
          <a:noFill/>
          <a:ln/>
        </p:spPr>
        <p:txBody>
          <a:bodyPr wrap="square" lIns="0" tIns="0" rIns="0" bIns="0" rtlCol="0" anchor="ctr">
            <a:normAutofit/>
          </a:bodyPr>
          <a:lstStyle/>
          <a:p>
            <a:pPr indent="0" marL="0">
              <a:buNone/>
            </a:pPr>
            <a:r>
              <a:rPr lang="en-US" sz="1700" dirty="0">
                <a:solidFill>
                  <a:srgbClr val="F7FCF4"/>
                </a:solidFill>
                <a:latin typeface="Segoe UI" pitchFamily="34" charset="0"/>
                <a:ea typeface="Segoe UI" pitchFamily="34" charset="-122"/>
                <a:cs typeface="Segoe UI" pitchFamily="34" charset="-120"/>
              </a:rPr>
              <a:t>Trace and order identifiers</a:t>
            </a:r>
            <a:endParaRPr lang="en-US" sz="1700" dirty="0"/>
          </a:p>
        </p:txBody>
      </p:sp>
      <p:sp>
        <p:nvSpPr>
          <p:cNvPr id="29" name="Text 27"/>
          <p:cNvSpPr/>
          <p:nvPr/>
        </p:nvSpPr>
        <p:spPr>
          <a:xfrm>
            <a:off x="640080" y="5870448"/>
            <a:ext cx="10607040" cy="256032"/>
          </a:xfrm>
          <a:prstGeom prst="rect">
            <a:avLst/>
          </a:prstGeom>
          <a:noFill/>
          <a:ln/>
        </p:spPr>
        <p:txBody>
          <a:bodyPr wrap="square" lIns="0" tIns="0" rIns="0" bIns="0" rtlCol="0" anchor="ctr">
            <a:normAutofit/>
          </a:bodyPr>
          <a:lstStyle/>
          <a:p>
            <a:pPr indent="0" marL="0">
              <a:buNone/>
            </a:pPr>
            <a:r>
              <a:rPr lang="en-US" sz="1300" b="1" dirty="0">
                <a:solidFill>
                  <a:srgbClr val="0C6843"/>
                </a:solidFill>
                <a:latin typeface="Segoe UI" pitchFamily="34" charset="0"/>
                <a:ea typeface="Segoe UI" pitchFamily="34" charset="-122"/>
                <a:cs typeface="Segoe UI" pitchFamily="34" charset="-120"/>
              </a:rPr>
              <a:t>Rihla Market scenario  /  Ramadan, Eid, National Day, and campaign peaks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01 / INVESTIGATION FLOW</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04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How we investigate the failed checkout</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The API response returns a trace ID. The same ID appears in each service event.</a:t>
            </a:r>
            <a:endParaRPr lang="en-US" sz="1700" dirty="0"/>
          </a:p>
        </p:txBody>
      </p:sp>
      <p:sp>
        <p:nvSpPr>
          <p:cNvPr id="9" name="Shape 7"/>
          <p:cNvSpPr/>
          <p:nvPr/>
        </p:nvSpPr>
        <p:spPr>
          <a:xfrm>
            <a:off x="612648" y="2084832"/>
            <a:ext cx="10954512" cy="667512"/>
          </a:xfrm>
          <a:prstGeom prst="roundRect">
            <a:avLst>
              <a:gd name="adj" fmla="val 16438"/>
            </a:avLst>
          </a:prstGeom>
          <a:solidFill>
            <a:srgbClr val="F7FCF4"/>
          </a:solidFill>
          <a:ln w="13970">
            <a:solidFill>
              <a:srgbClr val="76A987"/>
            </a:solidFill>
            <a:prstDash val="solid"/>
          </a:ln>
        </p:spPr>
      </p:sp>
      <p:sp>
        <p:nvSpPr>
          <p:cNvPr id="10" name="Text 8"/>
          <p:cNvSpPr/>
          <p:nvPr/>
        </p:nvSpPr>
        <p:spPr>
          <a:xfrm>
            <a:off x="868680" y="2221992"/>
            <a:ext cx="475488" cy="310896"/>
          </a:xfrm>
          <a:prstGeom prst="rect">
            <a:avLst/>
          </a:prstGeom>
          <a:noFill/>
          <a:ln/>
        </p:spPr>
        <p:txBody>
          <a:bodyPr wrap="square" lIns="0" tIns="0" rIns="0" bIns="0" rtlCol="0" anchor="ctr">
            <a:normAutofit/>
          </a:bodyPr>
          <a:lstStyle/>
          <a:p>
            <a:pPr indent="0" marL="0">
              <a:buNone/>
            </a:pPr>
            <a:r>
              <a:rPr lang="en-US" sz="1700" b="1" dirty="0">
                <a:solidFill>
                  <a:srgbClr val="0C6843"/>
                </a:solidFill>
                <a:latin typeface="Segoe UI" pitchFamily="34" charset="0"/>
                <a:ea typeface="Segoe UI" pitchFamily="34" charset="-122"/>
                <a:cs typeface="Segoe UI" pitchFamily="34" charset="-120"/>
              </a:rPr>
              <a:t>01</a:t>
            </a:r>
            <a:endParaRPr lang="en-US" sz="1700" dirty="0"/>
          </a:p>
        </p:txBody>
      </p:sp>
      <p:sp>
        <p:nvSpPr>
          <p:cNvPr id="11" name="Text 9"/>
          <p:cNvSpPr/>
          <p:nvPr/>
        </p:nvSpPr>
        <p:spPr>
          <a:xfrm>
            <a:off x="1627632" y="2203704"/>
            <a:ext cx="2139696" cy="347472"/>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Trigger</a:t>
            </a:r>
            <a:endParaRPr lang="en-US" sz="2000" dirty="0"/>
          </a:p>
        </p:txBody>
      </p:sp>
      <p:sp>
        <p:nvSpPr>
          <p:cNvPr id="12" name="Text 10"/>
          <p:cNvSpPr/>
          <p:nvPr/>
        </p:nvSpPr>
        <p:spPr>
          <a:xfrm>
            <a:off x="4023360" y="2221992"/>
            <a:ext cx="7123176" cy="310896"/>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POST /api/shop/demo/ghost-order</a:t>
            </a:r>
            <a:endParaRPr lang="en-US" sz="1700" dirty="0"/>
          </a:p>
        </p:txBody>
      </p:sp>
      <p:sp>
        <p:nvSpPr>
          <p:cNvPr id="13" name="Shape 11"/>
          <p:cNvSpPr/>
          <p:nvPr/>
        </p:nvSpPr>
        <p:spPr>
          <a:xfrm>
            <a:off x="612648" y="2916936"/>
            <a:ext cx="10954512" cy="667512"/>
          </a:xfrm>
          <a:prstGeom prst="roundRect">
            <a:avLst>
              <a:gd name="adj" fmla="val 16438"/>
            </a:avLst>
          </a:prstGeom>
          <a:solidFill>
            <a:srgbClr val="F7FCF4"/>
          </a:solidFill>
          <a:ln w="13970">
            <a:solidFill>
              <a:srgbClr val="76A987"/>
            </a:solidFill>
            <a:prstDash val="solid"/>
          </a:ln>
        </p:spPr>
      </p:sp>
      <p:sp>
        <p:nvSpPr>
          <p:cNvPr id="14" name="Text 12"/>
          <p:cNvSpPr/>
          <p:nvPr/>
        </p:nvSpPr>
        <p:spPr>
          <a:xfrm>
            <a:off x="868680" y="3054096"/>
            <a:ext cx="475488" cy="310896"/>
          </a:xfrm>
          <a:prstGeom prst="rect">
            <a:avLst/>
          </a:prstGeom>
          <a:noFill/>
          <a:ln/>
        </p:spPr>
        <p:txBody>
          <a:bodyPr wrap="square" lIns="0" tIns="0" rIns="0" bIns="0" rtlCol="0" anchor="ctr">
            <a:normAutofit/>
          </a:bodyPr>
          <a:lstStyle/>
          <a:p>
            <a:pPr indent="0" marL="0">
              <a:buNone/>
            </a:pPr>
            <a:r>
              <a:rPr lang="en-US" sz="1700" b="1" dirty="0">
                <a:solidFill>
                  <a:srgbClr val="0C6843"/>
                </a:solidFill>
                <a:latin typeface="Segoe UI" pitchFamily="34" charset="0"/>
                <a:ea typeface="Segoe UI" pitchFamily="34" charset="-122"/>
                <a:cs typeface="Segoe UI" pitchFamily="34" charset="-120"/>
              </a:rPr>
              <a:t>02</a:t>
            </a:r>
            <a:endParaRPr lang="en-US" sz="1700" dirty="0"/>
          </a:p>
        </p:txBody>
      </p:sp>
      <p:sp>
        <p:nvSpPr>
          <p:cNvPr id="15" name="Text 13"/>
          <p:cNvSpPr/>
          <p:nvPr/>
        </p:nvSpPr>
        <p:spPr>
          <a:xfrm>
            <a:off x="1627632" y="3035808"/>
            <a:ext cx="2139696" cy="347472"/>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Read IDs</a:t>
            </a:r>
            <a:endParaRPr lang="en-US" sz="2000" dirty="0"/>
          </a:p>
        </p:txBody>
      </p:sp>
      <p:sp>
        <p:nvSpPr>
          <p:cNvPr id="16" name="Text 14"/>
          <p:cNvSpPr/>
          <p:nvPr/>
        </p:nvSpPr>
        <p:spPr>
          <a:xfrm>
            <a:off x="4023360" y="3054096"/>
            <a:ext cx="7123176" cy="310896"/>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order_id and trace_id in the response</a:t>
            </a:r>
            <a:endParaRPr lang="en-US" sz="1700" dirty="0"/>
          </a:p>
        </p:txBody>
      </p:sp>
      <p:sp>
        <p:nvSpPr>
          <p:cNvPr id="17" name="Shape 15"/>
          <p:cNvSpPr/>
          <p:nvPr/>
        </p:nvSpPr>
        <p:spPr>
          <a:xfrm>
            <a:off x="612648" y="3749040"/>
            <a:ext cx="10954512" cy="667512"/>
          </a:xfrm>
          <a:prstGeom prst="roundRect">
            <a:avLst>
              <a:gd name="adj" fmla="val 16438"/>
            </a:avLst>
          </a:prstGeom>
          <a:solidFill>
            <a:srgbClr val="F7FCF4"/>
          </a:solidFill>
          <a:ln w="13970">
            <a:solidFill>
              <a:srgbClr val="76A987"/>
            </a:solidFill>
            <a:prstDash val="solid"/>
          </a:ln>
        </p:spPr>
      </p:sp>
      <p:sp>
        <p:nvSpPr>
          <p:cNvPr id="18" name="Text 16"/>
          <p:cNvSpPr/>
          <p:nvPr/>
        </p:nvSpPr>
        <p:spPr>
          <a:xfrm>
            <a:off x="868680" y="3886200"/>
            <a:ext cx="475488" cy="310896"/>
          </a:xfrm>
          <a:prstGeom prst="rect">
            <a:avLst/>
          </a:prstGeom>
          <a:noFill/>
          <a:ln/>
        </p:spPr>
        <p:txBody>
          <a:bodyPr wrap="square" lIns="0" tIns="0" rIns="0" bIns="0" rtlCol="0" anchor="ctr">
            <a:normAutofit/>
          </a:bodyPr>
          <a:lstStyle/>
          <a:p>
            <a:pPr indent="0" marL="0">
              <a:buNone/>
            </a:pPr>
            <a:r>
              <a:rPr lang="en-US" sz="1700" b="1" dirty="0">
                <a:solidFill>
                  <a:srgbClr val="0C6843"/>
                </a:solidFill>
                <a:latin typeface="Segoe UI" pitchFamily="34" charset="0"/>
                <a:ea typeface="Segoe UI" pitchFamily="34" charset="-122"/>
                <a:cs typeface="Segoe UI" pitchFamily="34" charset="-120"/>
              </a:rPr>
              <a:t>03</a:t>
            </a:r>
            <a:endParaRPr lang="en-US" sz="1700" dirty="0"/>
          </a:p>
        </p:txBody>
      </p:sp>
      <p:sp>
        <p:nvSpPr>
          <p:cNvPr id="19" name="Text 17"/>
          <p:cNvSpPr/>
          <p:nvPr/>
        </p:nvSpPr>
        <p:spPr>
          <a:xfrm>
            <a:off x="1627632" y="3867912"/>
            <a:ext cx="2139696" cy="347472"/>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Search</a:t>
            </a:r>
            <a:endParaRPr lang="en-US" sz="2000" dirty="0"/>
          </a:p>
        </p:txBody>
      </p:sp>
      <p:sp>
        <p:nvSpPr>
          <p:cNvPr id="20" name="Text 18"/>
          <p:cNvSpPr/>
          <p:nvPr/>
        </p:nvSpPr>
        <p:spPr>
          <a:xfrm>
            <a:off x="4023360" y="3886200"/>
            <a:ext cx="7123176" cy="310896"/>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Filter Kibana by trace.id</a:t>
            </a:r>
            <a:endParaRPr lang="en-US" sz="1700" dirty="0"/>
          </a:p>
        </p:txBody>
      </p:sp>
      <p:sp>
        <p:nvSpPr>
          <p:cNvPr id="21" name="Shape 19"/>
          <p:cNvSpPr/>
          <p:nvPr/>
        </p:nvSpPr>
        <p:spPr>
          <a:xfrm>
            <a:off x="612648" y="4581144"/>
            <a:ext cx="10954512" cy="667512"/>
          </a:xfrm>
          <a:prstGeom prst="roundRect">
            <a:avLst>
              <a:gd name="adj" fmla="val 16438"/>
            </a:avLst>
          </a:prstGeom>
          <a:solidFill>
            <a:srgbClr val="F7FCF4"/>
          </a:solidFill>
          <a:ln w="13970">
            <a:solidFill>
              <a:srgbClr val="76A987"/>
            </a:solidFill>
            <a:prstDash val="solid"/>
          </a:ln>
        </p:spPr>
      </p:sp>
      <p:sp>
        <p:nvSpPr>
          <p:cNvPr id="22" name="Text 20"/>
          <p:cNvSpPr/>
          <p:nvPr/>
        </p:nvSpPr>
        <p:spPr>
          <a:xfrm>
            <a:off x="868680" y="4718304"/>
            <a:ext cx="475488" cy="310896"/>
          </a:xfrm>
          <a:prstGeom prst="rect">
            <a:avLst/>
          </a:prstGeom>
          <a:noFill/>
          <a:ln/>
        </p:spPr>
        <p:txBody>
          <a:bodyPr wrap="square" lIns="0" tIns="0" rIns="0" bIns="0" rtlCol="0" anchor="ctr">
            <a:normAutofit/>
          </a:bodyPr>
          <a:lstStyle/>
          <a:p>
            <a:pPr indent="0" marL="0">
              <a:buNone/>
            </a:pPr>
            <a:r>
              <a:rPr lang="en-US" sz="1700" b="1" dirty="0">
                <a:solidFill>
                  <a:srgbClr val="0C6843"/>
                </a:solidFill>
                <a:latin typeface="Segoe UI" pitchFamily="34" charset="0"/>
                <a:ea typeface="Segoe UI" pitchFamily="34" charset="-122"/>
                <a:cs typeface="Segoe UI" pitchFamily="34" charset="-120"/>
              </a:rPr>
              <a:t>04</a:t>
            </a:r>
            <a:endParaRPr lang="en-US" sz="1700" dirty="0"/>
          </a:p>
        </p:txBody>
      </p:sp>
      <p:sp>
        <p:nvSpPr>
          <p:cNvPr id="23" name="Text 21"/>
          <p:cNvSpPr/>
          <p:nvPr/>
        </p:nvSpPr>
        <p:spPr>
          <a:xfrm>
            <a:off x="1627632" y="4700016"/>
            <a:ext cx="2139696" cy="347472"/>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Review alert</a:t>
            </a:r>
            <a:endParaRPr lang="en-US" sz="2000" dirty="0"/>
          </a:p>
        </p:txBody>
      </p:sp>
      <p:sp>
        <p:nvSpPr>
          <p:cNvPr id="24" name="Text 22"/>
          <p:cNvSpPr/>
          <p:nvPr/>
        </p:nvSpPr>
        <p:spPr>
          <a:xfrm>
            <a:off x="4023360" y="4718304"/>
            <a:ext cx="7123176" cy="310896"/>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Open the trace-filtered Kibana link</a:t>
            </a:r>
            <a:endParaRPr lang="en-US" sz="1700" dirty="0"/>
          </a:p>
        </p:txBody>
      </p:sp>
      <p:sp>
        <p:nvSpPr>
          <p:cNvPr id="25" name="Shape 23"/>
          <p:cNvSpPr/>
          <p:nvPr/>
        </p:nvSpPr>
        <p:spPr>
          <a:xfrm>
            <a:off x="612648" y="5660136"/>
            <a:ext cx="10954512" cy="438912"/>
          </a:xfrm>
          <a:prstGeom prst="roundRect">
            <a:avLst>
              <a:gd name="adj" fmla="val 25000"/>
            </a:avLst>
          </a:prstGeom>
          <a:solidFill>
            <a:srgbClr val="073D2B"/>
          </a:solidFill>
          <a:ln w="12700">
            <a:solidFill>
              <a:srgbClr val="073D2B"/>
            </a:solidFill>
            <a:prstDash val="solid"/>
          </a:ln>
        </p:spPr>
      </p:sp>
      <p:sp>
        <p:nvSpPr>
          <p:cNvPr id="26" name="Text 24"/>
          <p:cNvSpPr/>
          <p:nvPr/>
        </p:nvSpPr>
        <p:spPr>
          <a:xfrm>
            <a:off x="841248" y="5751576"/>
            <a:ext cx="10442448" cy="256032"/>
          </a:xfrm>
          <a:prstGeom prst="rect">
            <a:avLst/>
          </a:prstGeom>
          <a:noFill/>
          <a:ln/>
        </p:spPr>
        <p:txBody>
          <a:bodyPr wrap="square" lIns="0" tIns="0" rIns="0" bIns="0" rtlCol="0" anchor="ctr">
            <a:normAutofit/>
          </a:bodyPr>
          <a:lstStyle/>
          <a:p>
            <a:pPr algn="ctr" indent="0" marL="0">
              <a:buNone/>
            </a:pPr>
            <a:r>
              <a:rPr lang="en-US" sz="1600" b="1" dirty="0">
                <a:solidFill>
                  <a:srgbClr val="F7FCF4"/>
                </a:solidFill>
                <a:latin typeface="Segoe UI" pitchFamily="34" charset="0"/>
                <a:ea typeface="Segoe UI" pitchFamily="34" charset="-122"/>
                <a:cs typeface="Segoe UI" pitchFamily="34" charset="-120"/>
              </a:rPr>
              <a:t>The Kibana filter retrieves the related checkout, payment, order, and database events.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02 / AZURE ARCHITECTURE</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05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Azure deployment architecture</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Azure Functions sends checkout events to Logstash on the VM. Logstash indexes Elasticsearch.</a:t>
            </a:r>
            <a:endParaRPr lang="en-US" sz="1700" dirty="0"/>
          </a:p>
        </p:txBody>
      </p:sp>
      <p:sp>
        <p:nvSpPr>
          <p:cNvPr id="9" name="Shape 7"/>
          <p:cNvSpPr/>
          <p:nvPr/>
        </p:nvSpPr>
        <p:spPr>
          <a:xfrm>
            <a:off x="603504" y="1965960"/>
            <a:ext cx="10954512" cy="3584448"/>
          </a:xfrm>
          <a:prstGeom prst="roundRect">
            <a:avLst>
              <a:gd name="adj" fmla="val 3061"/>
            </a:avLst>
          </a:prstGeom>
          <a:solidFill>
            <a:srgbClr val="F7FCF4"/>
          </a:solidFill>
          <a:ln w="13970">
            <a:solidFill>
              <a:srgbClr val="76A987"/>
            </a:solidFill>
            <a:prstDash val="solid"/>
          </a:ln>
        </p:spPr>
      </p:sp>
      <p:sp>
        <p:nvSpPr>
          <p:cNvPr id="10" name="Shape 8"/>
          <p:cNvSpPr/>
          <p:nvPr/>
        </p:nvSpPr>
        <p:spPr>
          <a:xfrm>
            <a:off x="868680" y="2185416"/>
            <a:ext cx="1883664" cy="310896"/>
          </a:xfrm>
          <a:prstGeom prst="roundRect">
            <a:avLst>
              <a:gd name="adj" fmla="val 23529"/>
            </a:avLst>
          </a:prstGeom>
          <a:solidFill>
            <a:srgbClr val="BBDDC2"/>
          </a:solidFill>
          <a:ln w="12700">
            <a:solidFill>
              <a:srgbClr val="BBDDC2"/>
            </a:solidFill>
            <a:prstDash val="solid"/>
          </a:ln>
        </p:spPr>
      </p:sp>
      <p:sp>
        <p:nvSpPr>
          <p:cNvPr id="11" name="Text 9"/>
          <p:cNvSpPr/>
          <p:nvPr/>
        </p:nvSpPr>
        <p:spPr>
          <a:xfrm>
            <a:off x="978408" y="2212848"/>
            <a:ext cx="1664208" cy="246888"/>
          </a:xfrm>
          <a:prstGeom prst="rect">
            <a:avLst/>
          </a:prstGeom>
          <a:noFill/>
          <a:ln/>
        </p:spPr>
        <p:txBody>
          <a:bodyPr wrap="square" lIns="0" tIns="0" rIns="0" bIns="0" rtlCol="0" anchor="ctr">
            <a:normAutofit/>
          </a:bodyPr>
          <a:lstStyle/>
          <a:p>
            <a:pPr indent="0" marL="0">
              <a:buNone/>
            </a:pPr>
            <a:r>
              <a:rPr lang="en-US" sz="1000" b="1" spc="110" kern="0" dirty="0">
                <a:solidFill>
                  <a:srgbClr val="0C6843"/>
                </a:solidFill>
                <a:latin typeface="Segoe UI" pitchFamily="34" charset="0"/>
                <a:ea typeface="Segoe UI" pitchFamily="34" charset="-122"/>
                <a:cs typeface="Segoe UI" pitchFamily="34" charset="-120"/>
              </a:rPr>
              <a:t>MICROSOFT AZURE</a:t>
            </a:r>
            <a:endParaRPr lang="en-US" sz="1000" dirty="0"/>
          </a:p>
        </p:txBody>
      </p:sp>
      <p:pic>
        <p:nvPicPr>
          <p:cNvPr id="12" name="Image 0" descr="/mnt/c/Users/Saud/Documents/ChatGPT/SDA/presentation/assets/azure/functions.png">    </p:cNvPr>
          <p:cNvPicPr>
            <a:picLocks noChangeAspect="1"/>
          </p:cNvPicPr>
          <p:nvPr/>
        </p:nvPicPr>
        <p:blipFill>
          <a:blip r:embed="rId1"/>
          <a:stretch>
            <a:fillRect/>
          </a:stretch>
        </p:blipFill>
        <p:spPr>
          <a:xfrm>
            <a:off x="896112" y="2743200"/>
            <a:ext cx="731520" cy="731520"/>
          </a:xfrm>
          <a:prstGeom prst="rect">
            <a:avLst/>
          </a:prstGeom>
        </p:spPr>
      </p:pic>
      <p:sp>
        <p:nvSpPr>
          <p:cNvPr id="13" name="Text 10"/>
          <p:cNvSpPr/>
          <p:nvPr/>
        </p:nvSpPr>
        <p:spPr>
          <a:xfrm>
            <a:off x="1755648" y="2807208"/>
            <a:ext cx="2240280" cy="338328"/>
          </a:xfrm>
          <a:prstGeom prst="rect">
            <a:avLst/>
          </a:prstGeom>
          <a:noFill/>
          <a:ln/>
        </p:spPr>
        <p:txBody>
          <a:bodyPr wrap="square" lIns="0" tIns="0" rIns="0" bIns="0" rtlCol="0" anchor="ctr">
            <a:normAutofit/>
          </a:bodyPr>
          <a:lstStyle/>
          <a:p>
            <a:pPr indent="0" marL="0">
              <a:buNone/>
            </a:pPr>
            <a:r>
              <a:rPr lang="en-US" sz="1900" b="1" dirty="0">
                <a:solidFill>
                  <a:srgbClr val="103624"/>
                </a:solidFill>
                <a:latin typeface="Segoe UI" pitchFamily="34" charset="0"/>
                <a:ea typeface="Segoe UI" pitchFamily="34" charset="-122"/>
                <a:cs typeface="Segoe UI" pitchFamily="34" charset="-120"/>
              </a:rPr>
              <a:t>Azure Functions</a:t>
            </a:r>
            <a:endParaRPr lang="en-US" sz="1900" dirty="0"/>
          </a:p>
        </p:txBody>
      </p:sp>
      <p:sp>
        <p:nvSpPr>
          <p:cNvPr id="14" name="Text 11"/>
          <p:cNvSpPr/>
          <p:nvPr/>
        </p:nvSpPr>
        <p:spPr>
          <a:xfrm>
            <a:off x="1755648" y="3227832"/>
            <a:ext cx="2322576" cy="292608"/>
          </a:xfrm>
          <a:prstGeom prst="rect">
            <a:avLst/>
          </a:prstGeom>
          <a:noFill/>
          <a:ln/>
        </p:spPr>
        <p:txBody>
          <a:bodyPr wrap="square" lIns="0" tIns="0" rIns="0" bIns="0" rtlCol="0" anchor="ctr">
            <a:normAutofit/>
          </a:bodyPr>
          <a:lstStyle/>
          <a:p>
            <a:pPr indent="0" marL="0">
              <a:buNone/>
            </a:pPr>
            <a:r>
              <a:rPr lang="en-US" sz="1300" dirty="0">
                <a:solidFill>
                  <a:srgbClr val="315842"/>
                </a:solidFill>
                <a:latin typeface="Segoe UI" pitchFamily="34" charset="0"/>
                <a:ea typeface="Segoe UI" pitchFamily="34" charset="-122"/>
                <a:cs typeface="Segoe UI" pitchFamily="34" charset="-120"/>
              </a:rPr>
              <a:t>checkout + timer</a:t>
            </a:r>
            <a:endParaRPr lang="en-US" sz="1300" dirty="0"/>
          </a:p>
        </p:txBody>
      </p:sp>
      <p:pic>
        <p:nvPicPr>
          <p:cNvPr id="15" name="Image 1" descr="/mnt/c/Users/Saud/Documents/ChatGPT/SDA/presentation/assets/azure/virtual-machine.png">    </p:cNvPr>
          <p:cNvPicPr>
            <a:picLocks noChangeAspect="1"/>
          </p:cNvPicPr>
          <p:nvPr/>
        </p:nvPicPr>
        <p:blipFill>
          <a:blip r:embed="rId2"/>
          <a:stretch>
            <a:fillRect/>
          </a:stretch>
        </p:blipFill>
        <p:spPr>
          <a:xfrm>
            <a:off x="4370832" y="2743200"/>
            <a:ext cx="731520" cy="731520"/>
          </a:xfrm>
          <a:prstGeom prst="rect">
            <a:avLst/>
          </a:prstGeom>
        </p:spPr>
      </p:pic>
      <p:sp>
        <p:nvSpPr>
          <p:cNvPr id="16" name="Text 12"/>
          <p:cNvSpPr/>
          <p:nvPr/>
        </p:nvSpPr>
        <p:spPr>
          <a:xfrm>
            <a:off x="5230368" y="2807208"/>
            <a:ext cx="2240280" cy="338328"/>
          </a:xfrm>
          <a:prstGeom prst="rect">
            <a:avLst/>
          </a:prstGeom>
          <a:noFill/>
          <a:ln/>
        </p:spPr>
        <p:txBody>
          <a:bodyPr wrap="square" lIns="0" tIns="0" rIns="0" bIns="0" rtlCol="0" anchor="ctr">
            <a:normAutofit/>
          </a:bodyPr>
          <a:lstStyle/>
          <a:p>
            <a:pPr indent="0" marL="0">
              <a:buNone/>
            </a:pPr>
            <a:r>
              <a:rPr lang="en-US" sz="1900" b="1" dirty="0">
                <a:solidFill>
                  <a:srgbClr val="103624"/>
                </a:solidFill>
                <a:latin typeface="Segoe UI" pitchFamily="34" charset="0"/>
                <a:ea typeface="Segoe UI" pitchFamily="34" charset="-122"/>
                <a:cs typeface="Segoe UI" pitchFamily="34" charset="-120"/>
              </a:rPr>
              <a:t>Azure VM</a:t>
            </a:r>
            <a:endParaRPr lang="en-US" sz="1900" dirty="0"/>
          </a:p>
        </p:txBody>
      </p:sp>
      <p:sp>
        <p:nvSpPr>
          <p:cNvPr id="17" name="Text 13"/>
          <p:cNvSpPr/>
          <p:nvPr/>
        </p:nvSpPr>
        <p:spPr>
          <a:xfrm>
            <a:off x="5230368" y="3227832"/>
            <a:ext cx="2322576" cy="292608"/>
          </a:xfrm>
          <a:prstGeom prst="rect">
            <a:avLst/>
          </a:prstGeom>
          <a:noFill/>
          <a:ln/>
        </p:spPr>
        <p:txBody>
          <a:bodyPr wrap="square" lIns="0" tIns="0" rIns="0" bIns="0" rtlCol="0" anchor="ctr">
            <a:normAutofit/>
          </a:bodyPr>
          <a:lstStyle/>
          <a:p>
            <a:pPr indent="0" marL="0">
              <a:buNone/>
            </a:pPr>
            <a:r>
              <a:rPr lang="en-US" sz="1300" dirty="0">
                <a:solidFill>
                  <a:srgbClr val="315842"/>
                </a:solidFill>
                <a:latin typeface="Segoe UI" pitchFamily="34" charset="0"/>
                <a:ea typeface="Segoe UI" pitchFamily="34" charset="-122"/>
                <a:cs typeface="Segoe UI" pitchFamily="34" charset="-120"/>
              </a:rPr>
              <a:t>Caddy + Logstash + ELK</a:t>
            </a:r>
            <a:endParaRPr lang="en-US" sz="1300" dirty="0"/>
          </a:p>
        </p:txBody>
      </p:sp>
      <p:pic>
        <p:nvPicPr>
          <p:cNvPr id="18" name="Image 2" descr="/mnt/c/Users/Saud/Documents/ChatGPT/SDA/presentation/assets/azure/sql-database.png">    </p:cNvPr>
          <p:cNvPicPr>
            <a:picLocks noChangeAspect="1"/>
          </p:cNvPicPr>
          <p:nvPr/>
        </p:nvPicPr>
        <p:blipFill>
          <a:blip r:embed="rId3"/>
          <a:stretch>
            <a:fillRect/>
          </a:stretch>
        </p:blipFill>
        <p:spPr>
          <a:xfrm>
            <a:off x="7845552" y="2743200"/>
            <a:ext cx="731520" cy="731520"/>
          </a:xfrm>
          <a:prstGeom prst="rect">
            <a:avLst/>
          </a:prstGeom>
        </p:spPr>
      </p:pic>
      <p:sp>
        <p:nvSpPr>
          <p:cNvPr id="19" name="Text 14"/>
          <p:cNvSpPr/>
          <p:nvPr/>
        </p:nvSpPr>
        <p:spPr>
          <a:xfrm>
            <a:off x="8705088" y="2807208"/>
            <a:ext cx="2240280" cy="338328"/>
          </a:xfrm>
          <a:prstGeom prst="rect">
            <a:avLst/>
          </a:prstGeom>
          <a:noFill/>
          <a:ln/>
        </p:spPr>
        <p:txBody>
          <a:bodyPr wrap="square" lIns="0" tIns="0" rIns="0" bIns="0" rtlCol="0" anchor="ctr">
            <a:normAutofit/>
          </a:bodyPr>
          <a:lstStyle/>
          <a:p>
            <a:pPr indent="0" marL="0">
              <a:buNone/>
            </a:pPr>
            <a:r>
              <a:rPr lang="en-US" sz="1900" b="1" dirty="0">
                <a:solidFill>
                  <a:srgbClr val="103624"/>
                </a:solidFill>
                <a:latin typeface="Segoe UI" pitchFamily="34" charset="0"/>
                <a:ea typeface="Segoe UI" pitchFamily="34" charset="-122"/>
                <a:cs typeface="Segoe UI" pitchFamily="34" charset="-120"/>
              </a:rPr>
              <a:t>Azure SQL</a:t>
            </a:r>
            <a:endParaRPr lang="en-US" sz="1900" dirty="0"/>
          </a:p>
        </p:txBody>
      </p:sp>
      <p:sp>
        <p:nvSpPr>
          <p:cNvPr id="20" name="Text 15"/>
          <p:cNvSpPr/>
          <p:nvPr/>
        </p:nvSpPr>
        <p:spPr>
          <a:xfrm>
            <a:off x="8705088" y="3227832"/>
            <a:ext cx="2322576" cy="292608"/>
          </a:xfrm>
          <a:prstGeom prst="rect">
            <a:avLst/>
          </a:prstGeom>
          <a:noFill/>
          <a:ln/>
        </p:spPr>
        <p:txBody>
          <a:bodyPr wrap="square" lIns="0" tIns="0" rIns="0" bIns="0" rtlCol="0" anchor="ctr">
            <a:normAutofit/>
          </a:bodyPr>
          <a:lstStyle/>
          <a:p>
            <a:pPr indent="0" marL="0">
              <a:buNone/>
            </a:pPr>
            <a:r>
              <a:rPr lang="en-US" sz="1300" dirty="0">
                <a:solidFill>
                  <a:srgbClr val="315842"/>
                </a:solidFill>
                <a:latin typeface="Segoe UI" pitchFamily="34" charset="0"/>
                <a:ea typeface="Segoe UI" pitchFamily="34" charset="-122"/>
                <a:cs typeface="Segoe UI" pitchFamily="34" charset="-120"/>
              </a:rPr>
              <a:t>via reporting Function</a:t>
            </a:r>
            <a:endParaRPr lang="en-US" sz="1300" dirty="0"/>
          </a:p>
        </p:txBody>
      </p:sp>
      <p:sp>
        <p:nvSpPr>
          <p:cNvPr id="21" name="Text 16"/>
          <p:cNvSpPr/>
          <p:nvPr/>
        </p:nvSpPr>
        <p:spPr>
          <a:xfrm>
            <a:off x="4041648" y="2916936"/>
            <a:ext cx="393192" cy="338328"/>
          </a:xfrm>
          <a:prstGeom prst="rect">
            <a:avLst/>
          </a:prstGeom>
          <a:noFill/>
          <a:ln/>
        </p:spPr>
        <p:txBody>
          <a:bodyPr wrap="square" lIns="0" tIns="0" rIns="0" bIns="0" rtlCol="0" anchor="ctr">
            <a:normAutofit/>
          </a:bodyPr>
          <a:lstStyle/>
          <a:p>
            <a:pPr indent="0" marL="0">
              <a:buNone/>
            </a:pPr>
            <a:r>
              <a:rPr lang="en-US" sz="2700" b="1" dirty="0">
                <a:solidFill>
                  <a:srgbClr val="0C6843"/>
                </a:solidFill>
                <a:latin typeface="Segoe UI" pitchFamily="34" charset="0"/>
                <a:ea typeface="Segoe UI" pitchFamily="34" charset="-122"/>
                <a:cs typeface="Segoe UI" pitchFamily="34" charset="-120"/>
              </a:rPr>
              <a:t>→</a:t>
            </a:r>
            <a:endParaRPr lang="en-US" sz="2700" dirty="0"/>
          </a:p>
        </p:txBody>
      </p:sp>
      <p:sp>
        <p:nvSpPr>
          <p:cNvPr id="22" name="Text 17"/>
          <p:cNvSpPr/>
          <p:nvPr/>
        </p:nvSpPr>
        <p:spPr>
          <a:xfrm>
            <a:off x="7516368" y="2916936"/>
            <a:ext cx="393192" cy="338328"/>
          </a:xfrm>
          <a:prstGeom prst="rect">
            <a:avLst/>
          </a:prstGeom>
          <a:noFill/>
          <a:ln/>
        </p:spPr>
        <p:txBody>
          <a:bodyPr wrap="square" lIns="0" tIns="0" rIns="0" bIns="0" rtlCol="0" anchor="ctr">
            <a:normAutofit/>
          </a:bodyPr>
          <a:lstStyle/>
          <a:p>
            <a:pPr indent="0" marL="0">
              <a:buNone/>
            </a:pPr>
            <a:r>
              <a:rPr lang="en-US" sz="2700" b="1" dirty="0">
                <a:solidFill>
                  <a:srgbClr val="0C6843"/>
                </a:solidFill>
                <a:latin typeface="Segoe UI" pitchFamily="34" charset="0"/>
                <a:ea typeface="Segoe UI" pitchFamily="34" charset="-122"/>
                <a:cs typeface="Segoe UI" pitchFamily="34" charset="-120"/>
              </a:rPr>
              <a:t>→</a:t>
            </a:r>
            <a:endParaRPr lang="en-US" sz="2700" dirty="0"/>
          </a:p>
        </p:txBody>
      </p:sp>
      <p:sp>
        <p:nvSpPr>
          <p:cNvPr id="23" name="Shape 18"/>
          <p:cNvSpPr/>
          <p:nvPr/>
        </p:nvSpPr>
        <p:spPr>
          <a:xfrm>
            <a:off x="1335024" y="3913632"/>
            <a:ext cx="9436608" cy="0"/>
          </a:xfrm>
          <a:prstGeom prst="line">
            <a:avLst/>
          </a:prstGeom>
          <a:noFill/>
          <a:ln w="15240">
            <a:solidFill>
              <a:srgbClr val="76A987"/>
            </a:solidFill>
            <a:prstDash val="solid"/>
          </a:ln>
        </p:spPr>
      </p:sp>
      <p:sp>
        <p:nvSpPr>
          <p:cNvPr id="24" name="Text 19"/>
          <p:cNvSpPr/>
          <p:nvPr/>
        </p:nvSpPr>
        <p:spPr>
          <a:xfrm>
            <a:off x="923544" y="4178808"/>
            <a:ext cx="4169664" cy="310896"/>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Filebeat adds Linux and Docker logs</a:t>
            </a:r>
            <a:endParaRPr lang="en-US" sz="1600" dirty="0"/>
          </a:p>
        </p:txBody>
      </p:sp>
      <p:sp>
        <p:nvSpPr>
          <p:cNvPr id="25" name="Text 20"/>
          <p:cNvSpPr/>
          <p:nvPr/>
        </p:nvSpPr>
        <p:spPr>
          <a:xfrm>
            <a:off x="5166360" y="4178808"/>
            <a:ext cx="5650992" cy="310896"/>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Kibana contains four saved investigation views</a:t>
            </a:r>
            <a:endParaRPr lang="en-US" sz="1600" dirty="0"/>
          </a:p>
        </p:txBody>
      </p:sp>
      <p:sp>
        <p:nvSpPr>
          <p:cNvPr id="26" name="Shape 21"/>
          <p:cNvSpPr/>
          <p:nvPr/>
        </p:nvSpPr>
        <p:spPr>
          <a:xfrm>
            <a:off x="905256" y="4873752"/>
            <a:ext cx="3401568" cy="310896"/>
          </a:xfrm>
          <a:prstGeom prst="roundRect">
            <a:avLst>
              <a:gd name="adj" fmla="val 23529"/>
            </a:avLst>
          </a:prstGeom>
          <a:solidFill>
            <a:srgbClr val="F6DDD3"/>
          </a:solidFill>
          <a:ln w="12700">
            <a:solidFill>
              <a:srgbClr val="F6DDD3"/>
            </a:solidFill>
            <a:prstDash val="solid"/>
          </a:ln>
        </p:spPr>
      </p:sp>
      <p:sp>
        <p:nvSpPr>
          <p:cNvPr id="27" name="Text 22"/>
          <p:cNvSpPr/>
          <p:nvPr/>
        </p:nvSpPr>
        <p:spPr>
          <a:xfrm>
            <a:off x="1014984" y="4901184"/>
            <a:ext cx="3182112" cy="246888"/>
          </a:xfrm>
          <a:prstGeom prst="rect">
            <a:avLst/>
          </a:prstGeom>
          <a:noFill/>
          <a:ln/>
        </p:spPr>
        <p:txBody>
          <a:bodyPr wrap="square" lIns="0" tIns="0" rIns="0" bIns="0" rtlCol="0" anchor="ctr">
            <a:normAutofit/>
          </a:bodyPr>
          <a:lstStyle/>
          <a:p>
            <a:pPr indent="0" marL="0">
              <a:buNone/>
            </a:pPr>
            <a:r>
              <a:rPr lang="en-US" sz="1000" b="1" spc="110" kern="0" dirty="0">
                <a:solidFill>
                  <a:srgbClr val="A94332"/>
                </a:solidFill>
                <a:latin typeface="Segoe UI" pitchFamily="34" charset="0"/>
                <a:ea typeface="Segoe UI" pitchFamily="34" charset="-122"/>
                <a:cs typeface="Segoe UI" pitchFamily="34" charset="-120"/>
              </a:rPr>
              <a:t>FAILED CHECKOUT → TELEGRAM</a:t>
            </a:r>
            <a:endParaRPr lang="en-US" sz="1000" dirty="0"/>
          </a:p>
        </p:txBody>
      </p:sp>
      <p:sp>
        <p:nvSpPr>
          <p:cNvPr id="28" name="Text 23"/>
          <p:cNvSpPr/>
          <p:nvPr/>
        </p:nvSpPr>
        <p:spPr>
          <a:xfrm>
            <a:off x="658368" y="5870448"/>
            <a:ext cx="10826496" cy="274320"/>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HTTPS  •  authenticated ingestion  •  private data ports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02 / AZURE SERVICES</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06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Azure services in this deployment</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Functions, Virtual Machine, SQL, Key Vault, Logic Apps, and Blob Storage.</a:t>
            </a:r>
            <a:endParaRPr lang="en-US" sz="1700" dirty="0"/>
          </a:p>
        </p:txBody>
      </p:sp>
      <p:sp>
        <p:nvSpPr>
          <p:cNvPr id="9" name="Shape 7"/>
          <p:cNvSpPr/>
          <p:nvPr/>
        </p:nvSpPr>
        <p:spPr>
          <a:xfrm>
            <a:off x="612648" y="2029968"/>
            <a:ext cx="3511296" cy="1472184"/>
          </a:xfrm>
          <a:prstGeom prst="roundRect">
            <a:avLst>
              <a:gd name="adj" fmla="val 7453"/>
            </a:avLst>
          </a:prstGeom>
          <a:solidFill>
            <a:srgbClr val="F7FCF4"/>
          </a:solidFill>
          <a:ln w="13970">
            <a:solidFill>
              <a:srgbClr val="76A987"/>
            </a:solidFill>
            <a:prstDash val="solid"/>
          </a:ln>
        </p:spPr>
      </p:sp>
      <p:pic>
        <p:nvPicPr>
          <p:cNvPr id="10" name="Image 0" descr="/mnt/c/Users/Saud/Documents/ChatGPT/SDA/presentation/assets/azure/functions.png">    </p:cNvPr>
          <p:cNvPicPr>
            <a:picLocks noChangeAspect="1"/>
          </p:cNvPicPr>
          <p:nvPr/>
        </p:nvPicPr>
        <p:blipFill>
          <a:blip r:embed="rId1"/>
          <a:stretch>
            <a:fillRect/>
          </a:stretch>
        </p:blipFill>
        <p:spPr>
          <a:xfrm>
            <a:off x="841248" y="2286000"/>
            <a:ext cx="630936" cy="630936"/>
          </a:xfrm>
          <a:prstGeom prst="rect">
            <a:avLst/>
          </a:prstGeom>
        </p:spPr>
      </p:pic>
      <p:sp>
        <p:nvSpPr>
          <p:cNvPr id="11" name="Text 8"/>
          <p:cNvSpPr/>
          <p:nvPr/>
        </p:nvSpPr>
        <p:spPr>
          <a:xfrm>
            <a:off x="1609344" y="2258568"/>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Functions</a:t>
            </a:r>
            <a:endParaRPr lang="en-US" sz="1700" dirty="0"/>
          </a:p>
        </p:txBody>
      </p:sp>
      <p:sp>
        <p:nvSpPr>
          <p:cNvPr id="12" name="Text 9"/>
          <p:cNvSpPr/>
          <p:nvPr/>
        </p:nvSpPr>
        <p:spPr>
          <a:xfrm>
            <a:off x="1609344" y="2816352"/>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Synthetic API, timer, alert sender</a:t>
            </a:r>
            <a:endParaRPr lang="en-US" sz="1350" dirty="0"/>
          </a:p>
        </p:txBody>
      </p:sp>
      <p:sp>
        <p:nvSpPr>
          <p:cNvPr id="13" name="Shape 10"/>
          <p:cNvSpPr/>
          <p:nvPr/>
        </p:nvSpPr>
        <p:spPr>
          <a:xfrm>
            <a:off x="4325112" y="2029968"/>
            <a:ext cx="3511296" cy="1472184"/>
          </a:xfrm>
          <a:prstGeom prst="roundRect">
            <a:avLst>
              <a:gd name="adj" fmla="val 7453"/>
            </a:avLst>
          </a:prstGeom>
          <a:solidFill>
            <a:srgbClr val="F7FCF4"/>
          </a:solidFill>
          <a:ln w="13970">
            <a:solidFill>
              <a:srgbClr val="76A987"/>
            </a:solidFill>
            <a:prstDash val="solid"/>
          </a:ln>
        </p:spPr>
      </p:sp>
      <p:pic>
        <p:nvPicPr>
          <p:cNvPr id="14" name="Image 1" descr="/mnt/c/Users/Saud/Documents/ChatGPT/SDA/presentation/assets/azure/virtual-machine.png">    </p:cNvPr>
          <p:cNvPicPr>
            <a:picLocks noChangeAspect="1"/>
          </p:cNvPicPr>
          <p:nvPr/>
        </p:nvPicPr>
        <p:blipFill>
          <a:blip r:embed="rId2"/>
          <a:stretch>
            <a:fillRect/>
          </a:stretch>
        </p:blipFill>
        <p:spPr>
          <a:xfrm>
            <a:off x="4553712" y="2286000"/>
            <a:ext cx="630936" cy="630936"/>
          </a:xfrm>
          <a:prstGeom prst="rect">
            <a:avLst/>
          </a:prstGeom>
        </p:spPr>
      </p:pic>
      <p:sp>
        <p:nvSpPr>
          <p:cNvPr id="15" name="Text 11"/>
          <p:cNvSpPr/>
          <p:nvPr/>
        </p:nvSpPr>
        <p:spPr>
          <a:xfrm>
            <a:off x="5321808" y="2258568"/>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Virtual Machine</a:t>
            </a:r>
            <a:endParaRPr lang="en-US" sz="1700" dirty="0"/>
          </a:p>
        </p:txBody>
      </p:sp>
      <p:sp>
        <p:nvSpPr>
          <p:cNvPr id="16" name="Text 12"/>
          <p:cNvSpPr/>
          <p:nvPr/>
        </p:nvSpPr>
        <p:spPr>
          <a:xfrm>
            <a:off x="5321808" y="2816352"/>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Single host for the ELK stack</a:t>
            </a:r>
            <a:endParaRPr lang="en-US" sz="1350" dirty="0"/>
          </a:p>
        </p:txBody>
      </p:sp>
      <p:sp>
        <p:nvSpPr>
          <p:cNvPr id="17" name="Shape 13"/>
          <p:cNvSpPr/>
          <p:nvPr/>
        </p:nvSpPr>
        <p:spPr>
          <a:xfrm>
            <a:off x="8037576" y="2029968"/>
            <a:ext cx="3511296" cy="1472184"/>
          </a:xfrm>
          <a:prstGeom prst="roundRect">
            <a:avLst>
              <a:gd name="adj" fmla="val 7453"/>
            </a:avLst>
          </a:prstGeom>
          <a:solidFill>
            <a:srgbClr val="F7FCF4"/>
          </a:solidFill>
          <a:ln w="13970">
            <a:solidFill>
              <a:srgbClr val="76A987"/>
            </a:solidFill>
            <a:prstDash val="solid"/>
          </a:ln>
        </p:spPr>
      </p:sp>
      <p:pic>
        <p:nvPicPr>
          <p:cNvPr id="18" name="Image 2" descr="/mnt/c/Users/Saud/Documents/ChatGPT/SDA/presentation/assets/azure/sql-database.png">    </p:cNvPr>
          <p:cNvPicPr>
            <a:picLocks noChangeAspect="1"/>
          </p:cNvPicPr>
          <p:nvPr/>
        </p:nvPicPr>
        <p:blipFill>
          <a:blip r:embed="rId3"/>
          <a:stretch>
            <a:fillRect/>
          </a:stretch>
        </p:blipFill>
        <p:spPr>
          <a:xfrm>
            <a:off x="8266176" y="2286000"/>
            <a:ext cx="630936" cy="630936"/>
          </a:xfrm>
          <a:prstGeom prst="rect">
            <a:avLst/>
          </a:prstGeom>
        </p:spPr>
      </p:pic>
      <p:sp>
        <p:nvSpPr>
          <p:cNvPr id="19" name="Text 14"/>
          <p:cNvSpPr/>
          <p:nvPr/>
        </p:nvSpPr>
        <p:spPr>
          <a:xfrm>
            <a:off x="9034272" y="2258568"/>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SQL Database</a:t>
            </a:r>
            <a:endParaRPr lang="en-US" sz="1700" dirty="0"/>
          </a:p>
        </p:txBody>
      </p:sp>
      <p:sp>
        <p:nvSpPr>
          <p:cNvPr id="20" name="Text 15"/>
          <p:cNvSpPr/>
          <p:nvPr/>
        </p:nvSpPr>
        <p:spPr>
          <a:xfrm>
            <a:off x="9034272" y="2816352"/>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Structured incident records</a:t>
            </a:r>
            <a:endParaRPr lang="en-US" sz="1350" dirty="0"/>
          </a:p>
        </p:txBody>
      </p:sp>
      <p:sp>
        <p:nvSpPr>
          <p:cNvPr id="21" name="Shape 16"/>
          <p:cNvSpPr/>
          <p:nvPr/>
        </p:nvSpPr>
        <p:spPr>
          <a:xfrm>
            <a:off x="612648" y="3730752"/>
            <a:ext cx="3511296" cy="1472184"/>
          </a:xfrm>
          <a:prstGeom prst="roundRect">
            <a:avLst>
              <a:gd name="adj" fmla="val 7453"/>
            </a:avLst>
          </a:prstGeom>
          <a:solidFill>
            <a:srgbClr val="F7FCF4"/>
          </a:solidFill>
          <a:ln w="13970">
            <a:solidFill>
              <a:srgbClr val="76A987"/>
            </a:solidFill>
            <a:prstDash val="solid"/>
          </a:ln>
        </p:spPr>
      </p:sp>
      <p:pic>
        <p:nvPicPr>
          <p:cNvPr id="22" name="Image 3" descr="/mnt/c/Users/Saud/Documents/ChatGPT/SDA/presentation/assets/azure/key-vault.png">    </p:cNvPr>
          <p:cNvPicPr>
            <a:picLocks noChangeAspect="1"/>
          </p:cNvPicPr>
          <p:nvPr/>
        </p:nvPicPr>
        <p:blipFill>
          <a:blip r:embed="rId4"/>
          <a:stretch>
            <a:fillRect/>
          </a:stretch>
        </p:blipFill>
        <p:spPr>
          <a:xfrm>
            <a:off x="841248" y="3986784"/>
            <a:ext cx="630936" cy="630936"/>
          </a:xfrm>
          <a:prstGeom prst="rect">
            <a:avLst/>
          </a:prstGeom>
        </p:spPr>
      </p:pic>
      <p:sp>
        <p:nvSpPr>
          <p:cNvPr id="23" name="Text 17"/>
          <p:cNvSpPr/>
          <p:nvPr/>
        </p:nvSpPr>
        <p:spPr>
          <a:xfrm>
            <a:off x="1609344" y="3959352"/>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Key Vault</a:t>
            </a:r>
            <a:endParaRPr lang="en-US" sz="1700" dirty="0"/>
          </a:p>
        </p:txBody>
      </p:sp>
      <p:sp>
        <p:nvSpPr>
          <p:cNvPr id="24" name="Text 18"/>
          <p:cNvSpPr/>
          <p:nvPr/>
        </p:nvSpPr>
        <p:spPr>
          <a:xfrm>
            <a:off x="1609344" y="4517136"/>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Telegram credentials</a:t>
            </a:r>
            <a:endParaRPr lang="en-US" sz="1350" dirty="0"/>
          </a:p>
        </p:txBody>
      </p:sp>
      <p:sp>
        <p:nvSpPr>
          <p:cNvPr id="25" name="Shape 19"/>
          <p:cNvSpPr/>
          <p:nvPr/>
        </p:nvSpPr>
        <p:spPr>
          <a:xfrm>
            <a:off x="4325112" y="3730752"/>
            <a:ext cx="3511296" cy="1472184"/>
          </a:xfrm>
          <a:prstGeom prst="roundRect">
            <a:avLst>
              <a:gd name="adj" fmla="val 7453"/>
            </a:avLst>
          </a:prstGeom>
          <a:solidFill>
            <a:srgbClr val="F7FCF4"/>
          </a:solidFill>
          <a:ln w="13970">
            <a:solidFill>
              <a:srgbClr val="76A987"/>
            </a:solidFill>
            <a:prstDash val="solid"/>
          </a:ln>
        </p:spPr>
      </p:sp>
      <p:pic>
        <p:nvPicPr>
          <p:cNvPr id="26" name="Image 4" descr="/mnt/c/Users/Saud/Documents/ChatGPT/SDA/presentation/assets/azure/logic-apps.png">    </p:cNvPr>
          <p:cNvPicPr>
            <a:picLocks noChangeAspect="1"/>
          </p:cNvPicPr>
          <p:nvPr/>
        </p:nvPicPr>
        <p:blipFill>
          <a:blip r:embed="rId5"/>
          <a:stretch>
            <a:fillRect/>
          </a:stretch>
        </p:blipFill>
        <p:spPr>
          <a:xfrm>
            <a:off x="4553712" y="3986784"/>
            <a:ext cx="630936" cy="630936"/>
          </a:xfrm>
          <a:prstGeom prst="rect">
            <a:avLst/>
          </a:prstGeom>
        </p:spPr>
      </p:pic>
      <p:sp>
        <p:nvSpPr>
          <p:cNvPr id="27" name="Text 20"/>
          <p:cNvSpPr/>
          <p:nvPr/>
        </p:nvSpPr>
        <p:spPr>
          <a:xfrm>
            <a:off x="5321808" y="3959352"/>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Logic Apps</a:t>
            </a:r>
            <a:endParaRPr lang="en-US" sz="1700" dirty="0"/>
          </a:p>
        </p:txBody>
      </p:sp>
      <p:sp>
        <p:nvSpPr>
          <p:cNvPr id="28" name="Text 21"/>
          <p:cNvSpPr/>
          <p:nvPr/>
        </p:nvSpPr>
        <p:spPr>
          <a:xfrm>
            <a:off x="5321808" y="4517136"/>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Daily VM startup</a:t>
            </a:r>
            <a:endParaRPr lang="en-US" sz="1350" dirty="0"/>
          </a:p>
        </p:txBody>
      </p:sp>
      <p:sp>
        <p:nvSpPr>
          <p:cNvPr id="29" name="Shape 22"/>
          <p:cNvSpPr/>
          <p:nvPr/>
        </p:nvSpPr>
        <p:spPr>
          <a:xfrm>
            <a:off x="8037576" y="3730752"/>
            <a:ext cx="3511296" cy="1472184"/>
          </a:xfrm>
          <a:prstGeom prst="roundRect">
            <a:avLst>
              <a:gd name="adj" fmla="val 7453"/>
            </a:avLst>
          </a:prstGeom>
          <a:solidFill>
            <a:srgbClr val="F7FCF4"/>
          </a:solidFill>
          <a:ln w="13970">
            <a:solidFill>
              <a:srgbClr val="76A987"/>
            </a:solidFill>
            <a:prstDash val="solid"/>
          </a:ln>
        </p:spPr>
      </p:sp>
      <p:pic>
        <p:nvPicPr>
          <p:cNvPr id="30" name="Image 5" descr="/mnt/c/Users/Saud/Documents/ChatGPT/SDA/presentation/assets/azure/storage.png">    </p:cNvPr>
          <p:cNvPicPr>
            <a:picLocks noChangeAspect="1"/>
          </p:cNvPicPr>
          <p:nvPr/>
        </p:nvPicPr>
        <p:blipFill>
          <a:blip r:embed="rId6"/>
          <a:stretch>
            <a:fillRect/>
          </a:stretch>
        </p:blipFill>
        <p:spPr>
          <a:xfrm>
            <a:off x="8266176" y="3986784"/>
            <a:ext cx="630936" cy="630936"/>
          </a:xfrm>
          <a:prstGeom prst="rect">
            <a:avLst/>
          </a:prstGeom>
        </p:spPr>
      </p:pic>
      <p:sp>
        <p:nvSpPr>
          <p:cNvPr id="31" name="Text 23"/>
          <p:cNvSpPr/>
          <p:nvPr/>
        </p:nvSpPr>
        <p:spPr>
          <a:xfrm>
            <a:off x="9034272" y="3959352"/>
            <a:ext cx="2258568" cy="475488"/>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Azure Blob Storage</a:t>
            </a:r>
            <a:endParaRPr lang="en-US" sz="1700" dirty="0"/>
          </a:p>
        </p:txBody>
      </p:sp>
      <p:sp>
        <p:nvSpPr>
          <p:cNvPr id="32" name="Text 24"/>
          <p:cNvSpPr/>
          <p:nvPr/>
        </p:nvSpPr>
        <p:spPr>
          <a:xfrm>
            <a:off x="9034272" y="4517136"/>
            <a:ext cx="2267712" cy="475488"/>
          </a:xfrm>
          <a:prstGeom prst="rect">
            <a:avLst/>
          </a:prstGeom>
          <a:noFill/>
          <a:ln/>
        </p:spPr>
        <p:txBody>
          <a:bodyPr wrap="square" lIns="0" tIns="0" rIns="0" bIns="0" rtlCol="0" anchor="ctr">
            <a:normAutofit/>
          </a:bodyPr>
          <a:lstStyle/>
          <a:p>
            <a:pPr indent="0" marL="0">
              <a:buNone/>
            </a:pPr>
            <a:r>
              <a:rPr lang="en-US" sz="1350" dirty="0">
                <a:solidFill>
                  <a:srgbClr val="315842"/>
                </a:solidFill>
                <a:latin typeface="Segoe UI" pitchFamily="34" charset="0"/>
                <a:ea typeface="Segoe UI" pitchFamily="34" charset="-122"/>
                <a:cs typeface="Segoe UI" pitchFamily="34" charset="-120"/>
              </a:rPr>
              <a:t>Terraform state</a:t>
            </a:r>
            <a:endParaRPr lang="en-US" sz="1350" dirty="0"/>
          </a:p>
        </p:txBody>
      </p:sp>
      <p:sp>
        <p:nvSpPr>
          <p:cNvPr id="33" name="Text 25"/>
          <p:cNvSpPr/>
          <p:nvPr/>
        </p:nvSpPr>
        <p:spPr>
          <a:xfrm>
            <a:off x="621792" y="5833872"/>
            <a:ext cx="10698480" cy="310896"/>
          </a:xfrm>
          <a:prstGeom prst="rect">
            <a:avLst/>
          </a:prstGeom>
          <a:noFill/>
          <a:ln/>
        </p:spPr>
        <p:txBody>
          <a:bodyPr wrap="square" lIns="0" tIns="0" rIns="0" bIns="0" rtlCol="0" anchor="ctr">
            <a:normAutofit/>
          </a:bodyPr>
          <a:lstStyle/>
          <a:p>
            <a:pPr indent="0" marL="0">
              <a:buNone/>
            </a:pPr>
            <a:r>
              <a:rPr lang="en-US" sz="1500" b="1" dirty="0">
                <a:solidFill>
                  <a:srgbClr val="0C6843"/>
                </a:solidFill>
                <a:latin typeface="Segoe UI" pitchFamily="34" charset="0"/>
                <a:ea typeface="Segoe UI" pitchFamily="34" charset="-122"/>
                <a:cs typeface="Segoe UI" pitchFamily="34" charset="-120"/>
              </a:rPr>
              <a:t>VM: East US    Functions: East US 2    SQL: Central US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02 / DESIGNED FOR DEMONSTRATION</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07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Four checkout outcomes</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A timer runs every two minutes by default. The API can force a scenario for a live demo.</a:t>
            </a:r>
            <a:endParaRPr lang="en-US" sz="1700" dirty="0"/>
          </a:p>
        </p:txBody>
      </p:sp>
      <p:sp>
        <p:nvSpPr>
          <p:cNvPr id="9" name="Shape 7"/>
          <p:cNvSpPr/>
          <p:nvPr/>
        </p:nvSpPr>
        <p:spPr>
          <a:xfrm>
            <a:off x="612648" y="2103120"/>
            <a:ext cx="8215884" cy="722376"/>
          </a:xfrm>
          <a:prstGeom prst="rect">
            <a:avLst/>
          </a:prstGeom>
          <a:solidFill>
            <a:srgbClr val="0C6843"/>
          </a:solidFill>
          <a:ln w="12700">
            <a:solidFill>
              <a:srgbClr val="0C6843"/>
            </a:solidFill>
            <a:prstDash val="solid"/>
          </a:ln>
        </p:spPr>
      </p:sp>
      <p:sp>
        <p:nvSpPr>
          <p:cNvPr id="10" name="Text 8"/>
          <p:cNvSpPr/>
          <p:nvPr/>
        </p:nvSpPr>
        <p:spPr>
          <a:xfrm>
            <a:off x="649224" y="2313432"/>
            <a:ext cx="8142732" cy="246888"/>
          </a:xfrm>
          <a:prstGeom prst="rect">
            <a:avLst/>
          </a:prstGeom>
          <a:noFill/>
          <a:ln/>
        </p:spPr>
        <p:txBody>
          <a:bodyPr wrap="square" lIns="0" tIns="0" rIns="0" bIns="0" rtlCol="0" anchor="ctr">
            <a:normAutofit/>
          </a:bodyPr>
          <a:lstStyle/>
          <a:p>
            <a:pPr algn="ctr" indent="0" marL="0">
              <a:buNone/>
            </a:pPr>
            <a:r>
              <a:rPr lang="en-US" sz="1800" b="1" dirty="0">
                <a:solidFill>
                  <a:srgbClr val="F7FCF4"/>
                </a:solidFill>
                <a:latin typeface="Segoe UI" pitchFamily="34" charset="0"/>
                <a:ea typeface="Segoe UI" pitchFamily="34" charset="-122"/>
                <a:cs typeface="Segoe UI" pitchFamily="34" charset="-120"/>
              </a:rPr>
              <a:t>75% SUCCESS</a:t>
            </a:r>
            <a:endParaRPr lang="en-US" sz="1800" dirty="0"/>
          </a:p>
        </p:txBody>
      </p:sp>
      <p:sp>
        <p:nvSpPr>
          <p:cNvPr id="11" name="Shape 9"/>
          <p:cNvSpPr/>
          <p:nvPr/>
        </p:nvSpPr>
        <p:spPr>
          <a:xfrm>
            <a:off x="8828532" y="2103120"/>
            <a:ext cx="876361" cy="722376"/>
          </a:xfrm>
          <a:prstGeom prst="rect">
            <a:avLst/>
          </a:prstGeom>
          <a:solidFill>
            <a:srgbClr val="A94332"/>
          </a:solidFill>
          <a:ln w="12700">
            <a:solidFill>
              <a:srgbClr val="A94332"/>
            </a:solidFill>
            <a:prstDash val="solid"/>
          </a:ln>
        </p:spPr>
      </p:sp>
      <p:sp>
        <p:nvSpPr>
          <p:cNvPr id="12" name="Text 10"/>
          <p:cNvSpPr/>
          <p:nvPr/>
        </p:nvSpPr>
        <p:spPr>
          <a:xfrm>
            <a:off x="8865108" y="2313432"/>
            <a:ext cx="803209" cy="246888"/>
          </a:xfrm>
          <a:prstGeom prst="rect">
            <a:avLst/>
          </a:prstGeom>
          <a:noFill/>
          <a:ln/>
        </p:spPr>
        <p:txBody>
          <a:bodyPr wrap="square" lIns="0" tIns="0" rIns="0" bIns="0" rtlCol="0" anchor="ctr">
            <a:normAutofit/>
          </a:bodyPr>
          <a:lstStyle/>
          <a:p>
            <a:pPr algn="ctr" indent="0" marL="0">
              <a:buNone/>
            </a:pPr>
            <a:r>
              <a:rPr lang="en-US" sz="1100" b="1" dirty="0">
                <a:solidFill>
                  <a:srgbClr val="F7FCF4"/>
                </a:solidFill>
                <a:latin typeface="Segoe UI" pitchFamily="34" charset="0"/>
                <a:ea typeface="Segoe UI" pitchFamily="34" charset="-122"/>
                <a:cs typeface="Segoe UI" pitchFamily="34" charset="-120"/>
              </a:rPr>
              <a:t>8%</a:t>
            </a:r>
            <a:endParaRPr lang="en-US" sz="1100" dirty="0"/>
          </a:p>
        </p:txBody>
      </p:sp>
      <p:sp>
        <p:nvSpPr>
          <p:cNvPr id="13" name="Shape 11"/>
          <p:cNvSpPr/>
          <p:nvPr/>
        </p:nvSpPr>
        <p:spPr>
          <a:xfrm>
            <a:off x="9704893" y="2103120"/>
            <a:ext cx="1095451" cy="722376"/>
          </a:xfrm>
          <a:prstGeom prst="rect">
            <a:avLst/>
          </a:prstGeom>
          <a:solidFill>
            <a:srgbClr val="806116"/>
          </a:solidFill>
          <a:ln w="12700">
            <a:solidFill>
              <a:srgbClr val="806116"/>
            </a:solidFill>
            <a:prstDash val="solid"/>
          </a:ln>
        </p:spPr>
      </p:sp>
      <p:sp>
        <p:nvSpPr>
          <p:cNvPr id="14" name="Text 12"/>
          <p:cNvSpPr/>
          <p:nvPr/>
        </p:nvSpPr>
        <p:spPr>
          <a:xfrm>
            <a:off x="9741469" y="2313432"/>
            <a:ext cx="1022299" cy="246888"/>
          </a:xfrm>
          <a:prstGeom prst="rect">
            <a:avLst/>
          </a:prstGeom>
          <a:noFill/>
          <a:ln/>
        </p:spPr>
        <p:txBody>
          <a:bodyPr wrap="square" lIns="0" tIns="0" rIns="0" bIns="0" rtlCol="0" anchor="ctr">
            <a:normAutofit/>
          </a:bodyPr>
          <a:lstStyle/>
          <a:p>
            <a:pPr algn="ctr" indent="0" marL="0">
              <a:buNone/>
            </a:pPr>
            <a:r>
              <a:rPr lang="en-US" sz="1100" b="1" dirty="0">
                <a:solidFill>
                  <a:srgbClr val="F7FCF4"/>
                </a:solidFill>
                <a:latin typeface="Segoe UI" pitchFamily="34" charset="0"/>
                <a:ea typeface="Segoe UI" pitchFamily="34" charset="-122"/>
                <a:cs typeface="Segoe UI" pitchFamily="34" charset="-120"/>
              </a:rPr>
              <a:t>10%</a:t>
            </a:r>
            <a:endParaRPr lang="en-US" sz="1100" dirty="0"/>
          </a:p>
        </p:txBody>
      </p:sp>
      <p:sp>
        <p:nvSpPr>
          <p:cNvPr id="15" name="Shape 13"/>
          <p:cNvSpPr/>
          <p:nvPr/>
        </p:nvSpPr>
        <p:spPr>
          <a:xfrm>
            <a:off x="10800344" y="2103120"/>
            <a:ext cx="766816" cy="722376"/>
          </a:xfrm>
          <a:prstGeom prst="rect">
            <a:avLst/>
          </a:prstGeom>
          <a:solidFill>
            <a:srgbClr val="126DAB"/>
          </a:solidFill>
          <a:ln w="12700">
            <a:solidFill>
              <a:srgbClr val="126DAB"/>
            </a:solidFill>
            <a:prstDash val="solid"/>
          </a:ln>
        </p:spPr>
      </p:sp>
      <p:sp>
        <p:nvSpPr>
          <p:cNvPr id="16" name="Text 14"/>
          <p:cNvSpPr/>
          <p:nvPr/>
        </p:nvSpPr>
        <p:spPr>
          <a:xfrm>
            <a:off x="10836920" y="2313432"/>
            <a:ext cx="693664" cy="246888"/>
          </a:xfrm>
          <a:prstGeom prst="rect">
            <a:avLst/>
          </a:prstGeom>
          <a:noFill/>
          <a:ln/>
        </p:spPr>
        <p:txBody>
          <a:bodyPr wrap="square" lIns="0" tIns="0" rIns="0" bIns="0" rtlCol="0" anchor="ctr">
            <a:normAutofit/>
          </a:bodyPr>
          <a:lstStyle/>
          <a:p>
            <a:pPr algn="ctr" indent="0" marL="0">
              <a:buNone/>
            </a:pPr>
            <a:r>
              <a:rPr lang="en-US" sz="1100" b="1" dirty="0">
                <a:solidFill>
                  <a:srgbClr val="F7FCF4"/>
                </a:solidFill>
                <a:latin typeface="Segoe UI" pitchFamily="34" charset="0"/>
                <a:ea typeface="Segoe UI" pitchFamily="34" charset="-122"/>
                <a:cs typeface="Segoe UI" pitchFamily="34" charset="-120"/>
              </a:rPr>
              <a:t>7%</a:t>
            </a:r>
            <a:endParaRPr lang="en-US" sz="1100" dirty="0"/>
          </a:p>
        </p:txBody>
      </p:sp>
      <p:sp>
        <p:nvSpPr>
          <p:cNvPr id="17" name="Shape 15"/>
          <p:cNvSpPr/>
          <p:nvPr/>
        </p:nvSpPr>
        <p:spPr>
          <a:xfrm>
            <a:off x="612648" y="3127248"/>
            <a:ext cx="10954512" cy="493776"/>
          </a:xfrm>
          <a:prstGeom prst="roundRect">
            <a:avLst>
              <a:gd name="adj" fmla="val 22222"/>
            </a:avLst>
          </a:prstGeom>
          <a:solidFill>
            <a:srgbClr val="F7FCF4"/>
          </a:solidFill>
          <a:ln w="13970">
            <a:solidFill>
              <a:srgbClr val="76A987"/>
            </a:solidFill>
            <a:prstDash val="solid"/>
          </a:ln>
        </p:spPr>
      </p:sp>
      <p:sp>
        <p:nvSpPr>
          <p:cNvPr id="18" name="Text 16"/>
          <p:cNvSpPr/>
          <p:nvPr/>
        </p:nvSpPr>
        <p:spPr>
          <a:xfrm>
            <a:off x="859536" y="3218688"/>
            <a:ext cx="667512" cy="283464"/>
          </a:xfrm>
          <a:prstGeom prst="rect">
            <a:avLst/>
          </a:prstGeom>
          <a:noFill/>
          <a:ln/>
        </p:spPr>
        <p:txBody>
          <a:bodyPr wrap="square" lIns="0" tIns="0" rIns="0" bIns="0" rtlCol="0" anchor="ctr">
            <a:normAutofit/>
          </a:bodyPr>
          <a:lstStyle/>
          <a:p>
            <a:pPr indent="0" marL="0">
              <a:buNone/>
            </a:pPr>
            <a:r>
              <a:rPr lang="en-US" sz="1700" b="1" dirty="0">
                <a:solidFill>
                  <a:srgbClr val="0C6843"/>
                </a:solidFill>
                <a:latin typeface="Segoe UI" pitchFamily="34" charset="0"/>
                <a:ea typeface="Segoe UI" pitchFamily="34" charset="-122"/>
                <a:cs typeface="Segoe UI" pitchFamily="34" charset="-120"/>
              </a:rPr>
              <a:t>201</a:t>
            </a:r>
            <a:endParaRPr lang="en-US" sz="1700" dirty="0"/>
          </a:p>
        </p:txBody>
      </p:sp>
      <p:sp>
        <p:nvSpPr>
          <p:cNvPr id="19" name="Text 17"/>
          <p:cNvSpPr/>
          <p:nvPr/>
        </p:nvSpPr>
        <p:spPr>
          <a:xfrm>
            <a:off x="1847088" y="3218688"/>
            <a:ext cx="2843784" cy="283464"/>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Success</a:t>
            </a:r>
            <a:endParaRPr lang="en-US" sz="1700" dirty="0"/>
          </a:p>
        </p:txBody>
      </p:sp>
      <p:sp>
        <p:nvSpPr>
          <p:cNvPr id="20" name="Text 18"/>
          <p:cNvSpPr/>
          <p:nvPr/>
        </p:nvSpPr>
        <p:spPr>
          <a:xfrm>
            <a:off x="4919472" y="3227832"/>
            <a:ext cx="6263640" cy="274320"/>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Confirmed order</a:t>
            </a:r>
            <a:endParaRPr lang="en-US" sz="1500" dirty="0"/>
          </a:p>
        </p:txBody>
      </p:sp>
      <p:sp>
        <p:nvSpPr>
          <p:cNvPr id="21" name="Shape 19"/>
          <p:cNvSpPr/>
          <p:nvPr/>
        </p:nvSpPr>
        <p:spPr>
          <a:xfrm>
            <a:off x="612648" y="3730752"/>
            <a:ext cx="10954512" cy="493776"/>
          </a:xfrm>
          <a:prstGeom prst="roundRect">
            <a:avLst>
              <a:gd name="adj" fmla="val 22222"/>
            </a:avLst>
          </a:prstGeom>
          <a:solidFill>
            <a:srgbClr val="F7FCF4"/>
          </a:solidFill>
          <a:ln w="13970">
            <a:solidFill>
              <a:srgbClr val="76A987"/>
            </a:solidFill>
            <a:prstDash val="solid"/>
          </a:ln>
        </p:spPr>
      </p:sp>
      <p:sp>
        <p:nvSpPr>
          <p:cNvPr id="22" name="Text 20"/>
          <p:cNvSpPr/>
          <p:nvPr/>
        </p:nvSpPr>
        <p:spPr>
          <a:xfrm>
            <a:off x="859536" y="3822192"/>
            <a:ext cx="667512" cy="283464"/>
          </a:xfrm>
          <a:prstGeom prst="rect">
            <a:avLst/>
          </a:prstGeom>
          <a:noFill/>
          <a:ln/>
        </p:spPr>
        <p:txBody>
          <a:bodyPr wrap="square" lIns="0" tIns="0" rIns="0" bIns="0" rtlCol="0" anchor="ctr">
            <a:normAutofit/>
          </a:bodyPr>
          <a:lstStyle/>
          <a:p>
            <a:pPr indent="0" marL="0">
              <a:buNone/>
            </a:pPr>
            <a:r>
              <a:rPr lang="en-US" sz="1700" b="1" dirty="0">
                <a:solidFill>
                  <a:srgbClr val="A94332"/>
                </a:solidFill>
                <a:latin typeface="Segoe UI" pitchFamily="34" charset="0"/>
                <a:ea typeface="Segoe UI" pitchFamily="34" charset="-122"/>
                <a:cs typeface="Segoe UI" pitchFamily="34" charset="-120"/>
              </a:rPr>
              <a:t>500</a:t>
            </a:r>
            <a:endParaRPr lang="en-US" sz="1700" dirty="0"/>
          </a:p>
        </p:txBody>
      </p:sp>
      <p:sp>
        <p:nvSpPr>
          <p:cNvPr id="23" name="Text 21"/>
          <p:cNvSpPr/>
          <p:nvPr/>
        </p:nvSpPr>
        <p:spPr>
          <a:xfrm>
            <a:off x="1847088" y="3822192"/>
            <a:ext cx="2843784" cy="283464"/>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Ghost Order</a:t>
            </a:r>
            <a:endParaRPr lang="en-US" sz="1700" dirty="0"/>
          </a:p>
        </p:txBody>
      </p:sp>
      <p:sp>
        <p:nvSpPr>
          <p:cNvPr id="24" name="Text 22"/>
          <p:cNvSpPr/>
          <p:nvPr/>
        </p:nvSpPr>
        <p:spPr>
          <a:xfrm>
            <a:off x="4919472" y="3831336"/>
            <a:ext cx="6263640" cy="274320"/>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Payment authorized, order missing</a:t>
            </a:r>
            <a:endParaRPr lang="en-US" sz="1500" dirty="0"/>
          </a:p>
        </p:txBody>
      </p:sp>
      <p:sp>
        <p:nvSpPr>
          <p:cNvPr id="25" name="Shape 23"/>
          <p:cNvSpPr/>
          <p:nvPr/>
        </p:nvSpPr>
        <p:spPr>
          <a:xfrm>
            <a:off x="612648" y="4334256"/>
            <a:ext cx="10954512" cy="493776"/>
          </a:xfrm>
          <a:prstGeom prst="roundRect">
            <a:avLst>
              <a:gd name="adj" fmla="val 22222"/>
            </a:avLst>
          </a:prstGeom>
          <a:solidFill>
            <a:srgbClr val="F7FCF4"/>
          </a:solidFill>
          <a:ln w="13970">
            <a:solidFill>
              <a:srgbClr val="76A987"/>
            </a:solidFill>
            <a:prstDash val="solid"/>
          </a:ln>
        </p:spPr>
      </p:sp>
      <p:sp>
        <p:nvSpPr>
          <p:cNvPr id="26" name="Text 24"/>
          <p:cNvSpPr/>
          <p:nvPr/>
        </p:nvSpPr>
        <p:spPr>
          <a:xfrm>
            <a:off x="859536" y="4425696"/>
            <a:ext cx="667512" cy="283464"/>
          </a:xfrm>
          <a:prstGeom prst="rect">
            <a:avLst/>
          </a:prstGeom>
          <a:noFill/>
          <a:ln/>
        </p:spPr>
        <p:txBody>
          <a:bodyPr wrap="square" lIns="0" tIns="0" rIns="0" bIns="0" rtlCol="0" anchor="ctr">
            <a:normAutofit/>
          </a:bodyPr>
          <a:lstStyle/>
          <a:p>
            <a:pPr indent="0" marL="0">
              <a:buNone/>
            </a:pPr>
            <a:r>
              <a:rPr lang="en-US" sz="1700" b="1" dirty="0">
                <a:solidFill>
                  <a:srgbClr val="806116"/>
                </a:solidFill>
                <a:latin typeface="Segoe UI" pitchFamily="34" charset="0"/>
                <a:ea typeface="Segoe UI" pitchFamily="34" charset="-122"/>
                <a:cs typeface="Segoe UI" pitchFamily="34" charset="-120"/>
              </a:rPr>
              <a:t>402</a:t>
            </a:r>
            <a:endParaRPr lang="en-US" sz="1700" dirty="0"/>
          </a:p>
        </p:txBody>
      </p:sp>
      <p:sp>
        <p:nvSpPr>
          <p:cNvPr id="27" name="Text 25"/>
          <p:cNvSpPr/>
          <p:nvPr/>
        </p:nvSpPr>
        <p:spPr>
          <a:xfrm>
            <a:off x="1847088" y="4425696"/>
            <a:ext cx="2843784" cy="283464"/>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Payment declined</a:t>
            </a:r>
            <a:endParaRPr lang="en-US" sz="1700" dirty="0"/>
          </a:p>
        </p:txBody>
      </p:sp>
      <p:sp>
        <p:nvSpPr>
          <p:cNvPr id="28" name="Text 26"/>
          <p:cNvSpPr/>
          <p:nvPr/>
        </p:nvSpPr>
        <p:spPr>
          <a:xfrm>
            <a:off x="4919472" y="4434840"/>
            <a:ext cx="6263640" cy="274320"/>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Authorization stops checkout</a:t>
            </a:r>
            <a:endParaRPr lang="en-US" sz="1500" dirty="0"/>
          </a:p>
        </p:txBody>
      </p:sp>
      <p:sp>
        <p:nvSpPr>
          <p:cNvPr id="29" name="Shape 27"/>
          <p:cNvSpPr/>
          <p:nvPr/>
        </p:nvSpPr>
        <p:spPr>
          <a:xfrm>
            <a:off x="612648" y="4937760"/>
            <a:ext cx="10954512" cy="493776"/>
          </a:xfrm>
          <a:prstGeom prst="roundRect">
            <a:avLst>
              <a:gd name="adj" fmla="val 22222"/>
            </a:avLst>
          </a:prstGeom>
          <a:solidFill>
            <a:srgbClr val="F7FCF4"/>
          </a:solidFill>
          <a:ln w="13970">
            <a:solidFill>
              <a:srgbClr val="76A987"/>
            </a:solidFill>
            <a:prstDash val="solid"/>
          </a:ln>
        </p:spPr>
      </p:sp>
      <p:sp>
        <p:nvSpPr>
          <p:cNvPr id="30" name="Text 28"/>
          <p:cNvSpPr/>
          <p:nvPr/>
        </p:nvSpPr>
        <p:spPr>
          <a:xfrm>
            <a:off x="859536" y="5029200"/>
            <a:ext cx="667512" cy="283464"/>
          </a:xfrm>
          <a:prstGeom prst="rect">
            <a:avLst/>
          </a:prstGeom>
          <a:noFill/>
          <a:ln/>
        </p:spPr>
        <p:txBody>
          <a:bodyPr wrap="square" lIns="0" tIns="0" rIns="0" bIns="0" rtlCol="0" anchor="ctr">
            <a:normAutofit/>
          </a:bodyPr>
          <a:lstStyle/>
          <a:p>
            <a:pPr indent="0" marL="0">
              <a:buNone/>
            </a:pPr>
            <a:r>
              <a:rPr lang="en-US" sz="1700" b="1" dirty="0">
                <a:solidFill>
                  <a:srgbClr val="126DAB"/>
                </a:solidFill>
                <a:latin typeface="Segoe UI" pitchFamily="34" charset="0"/>
                <a:ea typeface="Segoe UI" pitchFamily="34" charset="-122"/>
                <a:cs typeface="Segoe UI" pitchFamily="34" charset="-120"/>
              </a:rPr>
              <a:t>409</a:t>
            </a:r>
            <a:endParaRPr lang="en-US" sz="1700" dirty="0"/>
          </a:p>
        </p:txBody>
      </p:sp>
      <p:sp>
        <p:nvSpPr>
          <p:cNvPr id="31" name="Text 29"/>
          <p:cNvSpPr/>
          <p:nvPr/>
        </p:nvSpPr>
        <p:spPr>
          <a:xfrm>
            <a:off x="1847088" y="5029200"/>
            <a:ext cx="2843784" cy="283464"/>
          </a:xfrm>
          <a:prstGeom prst="rect">
            <a:avLst/>
          </a:prstGeom>
          <a:noFill/>
          <a:ln/>
        </p:spPr>
        <p:txBody>
          <a:bodyPr wrap="square" lIns="0" tIns="0" rIns="0" bIns="0" rtlCol="0" anchor="ctr">
            <a:normAutofit/>
          </a:bodyPr>
          <a:lstStyle/>
          <a:p>
            <a:pPr indent="0" marL="0">
              <a:buNone/>
            </a:pPr>
            <a:r>
              <a:rPr lang="en-US" sz="1700" b="1" dirty="0">
                <a:solidFill>
                  <a:srgbClr val="103624"/>
                </a:solidFill>
                <a:latin typeface="Segoe UI" pitchFamily="34" charset="0"/>
                <a:ea typeface="Segoe UI" pitchFamily="34" charset="-122"/>
                <a:cs typeface="Segoe UI" pitchFamily="34" charset="-120"/>
              </a:rPr>
              <a:t>Inventory shortage</a:t>
            </a:r>
            <a:endParaRPr lang="en-US" sz="1700" dirty="0"/>
          </a:p>
        </p:txBody>
      </p:sp>
      <p:sp>
        <p:nvSpPr>
          <p:cNvPr id="32" name="Text 30"/>
          <p:cNvSpPr/>
          <p:nvPr/>
        </p:nvSpPr>
        <p:spPr>
          <a:xfrm>
            <a:off x="4919472" y="5038344"/>
            <a:ext cx="6263640" cy="274320"/>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Stock check stops checkout</a:t>
            </a:r>
            <a:endParaRPr lang="en-US" sz="1500" dirty="0"/>
          </a:p>
        </p:txBody>
      </p:sp>
      <p:sp>
        <p:nvSpPr>
          <p:cNvPr id="33" name="Text 31"/>
          <p:cNvSpPr/>
          <p:nvPr/>
        </p:nvSpPr>
        <p:spPr>
          <a:xfrm>
            <a:off x="640080" y="5916168"/>
            <a:ext cx="10607040" cy="265176"/>
          </a:xfrm>
          <a:prstGeom prst="rect">
            <a:avLst/>
          </a:prstGeom>
          <a:noFill/>
          <a:ln/>
        </p:spPr>
        <p:txBody>
          <a:bodyPr wrap="square" lIns="0" tIns="0" rIns="0" bIns="0" rtlCol="0" anchor="ctr">
            <a:normAutofit/>
          </a:bodyPr>
          <a:lstStyle/>
          <a:p>
            <a:pPr indent="0" marL="0">
              <a:buNone/>
            </a:pPr>
            <a:r>
              <a:rPr lang="en-US" sz="1300" b="1" dirty="0">
                <a:solidFill>
                  <a:srgbClr val="0C6843"/>
                </a:solidFill>
                <a:latin typeface="Segoe UI" pitchFamily="34" charset="0"/>
                <a:ea typeface="Segoe UI" pitchFamily="34" charset="-122"/>
                <a:cs typeface="Segoe UI" pitchFamily="34" charset="-120"/>
              </a:rPr>
              <a:t>Proposal: 2 scenarios, 30 requests/min. Delivered: 4 scenarios, timer every 2 min.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02 / SCOPE CHANGE</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08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From proposal to delivered system</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The ELK investigation stayed central. The Azure workload and response paths expanded.</a:t>
            </a:r>
            <a:endParaRPr lang="en-US" sz="1700" dirty="0"/>
          </a:p>
        </p:txBody>
      </p:sp>
      <p:sp>
        <p:nvSpPr>
          <p:cNvPr id="9" name="Shape 7"/>
          <p:cNvSpPr/>
          <p:nvPr/>
        </p:nvSpPr>
        <p:spPr>
          <a:xfrm>
            <a:off x="621792" y="1993392"/>
            <a:ext cx="10936224" cy="676656"/>
          </a:xfrm>
          <a:prstGeom prst="roundRect">
            <a:avLst>
              <a:gd name="adj" fmla="val 16216"/>
            </a:avLst>
          </a:prstGeom>
          <a:solidFill>
            <a:srgbClr val="F7FCF4"/>
          </a:solidFill>
          <a:ln w="13970">
            <a:solidFill>
              <a:srgbClr val="76A987"/>
            </a:solidFill>
            <a:prstDash val="solid"/>
          </a:ln>
        </p:spPr>
      </p:sp>
      <p:sp>
        <p:nvSpPr>
          <p:cNvPr id="10" name="Text 8"/>
          <p:cNvSpPr/>
          <p:nvPr/>
        </p:nvSpPr>
        <p:spPr>
          <a:xfrm>
            <a:off x="859536" y="2148840"/>
            <a:ext cx="1307592" cy="265176"/>
          </a:xfrm>
          <a:prstGeom prst="rect">
            <a:avLst/>
          </a:prstGeom>
          <a:noFill/>
          <a:ln/>
        </p:spPr>
        <p:txBody>
          <a:bodyPr wrap="square" lIns="0" tIns="0" rIns="0" bIns="0" rtlCol="0" anchor="ctr">
            <a:normAutofit/>
          </a:bodyPr>
          <a:lstStyle/>
          <a:p>
            <a:pPr indent="0" marL="0">
              <a:buNone/>
            </a:pPr>
            <a:r>
              <a:rPr lang="en-US" sz="1100" b="1" spc="100" kern="0" dirty="0">
                <a:solidFill>
                  <a:srgbClr val="0C6843"/>
                </a:solidFill>
                <a:latin typeface="Segoe UI" pitchFamily="34" charset="0"/>
                <a:ea typeface="Segoe UI" pitchFamily="34" charset="-122"/>
                <a:cs typeface="Segoe UI" pitchFamily="34" charset="-120"/>
              </a:rPr>
              <a:t>WORKLOAD</a:t>
            </a:r>
            <a:endParaRPr lang="en-US" sz="1100" dirty="0"/>
          </a:p>
        </p:txBody>
      </p:sp>
      <p:sp>
        <p:nvSpPr>
          <p:cNvPr id="11" name="Text 9"/>
          <p:cNvSpPr/>
          <p:nvPr/>
        </p:nvSpPr>
        <p:spPr>
          <a:xfrm>
            <a:off x="2212848" y="2103120"/>
            <a:ext cx="3867912" cy="365760"/>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Compose dummy app and traffic worker</a:t>
            </a:r>
            <a:endParaRPr lang="en-US" sz="1600" dirty="0"/>
          </a:p>
        </p:txBody>
      </p:sp>
      <p:sp>
        <p:nvSpPr>
          <p:cNvPr id="12" name="Text 10"/>
          <p:cNvSpPr/>
          <p:nvPr/>
        </p:nvSpPr>
        <p:spPr>
          <a:xfrm>
            <a:off x="6126480" y="2121408"/>
            <a:ext cx="329184" cy="329184"/>
          </a:xfrm>
          <a:prstGeom prst="rect">
            <a:avLst/>
          </a:prstGeom>
          <a:noFill/>
          <a:ln/>
        </p:spPr>
        <p:txBody>
          <a:bodyPr wrap="square" lIns="0" tIns="0" rIns="0" bIns="0" rtlCol="0" anchor="ctr">
            <a:normAutofit/>
          </a:bodyPr>
          <a:lstStyle/>
          <a:p>
            <a:pPr indent="0" marL="0">
              <a:buNone/>
            </a:pPr>
            <a:r>
              <a:rPr lang="en-US" sz="2300" b="1" dirty="0">
                <a:solidFill>
                  <a:srgbClr val="0C6843"/>
                </a:solidFill>
                <a:latin typeface="Segoe UI" pitchFamily="34" charset="0"/>
                <a:ea typeface="Segoe UI" pitchFamily="34" charset="-122"/>
                <a:cs typeface="Segoe UI" pitchFamily="34" charset="-120"/>
              </a:rPr>
              <a:t>→</a:t>
            </a:r>
            <a:endParaRPr lang="en-US" sz="2300" dirty="0"/>
          </a:p>
        </p:txBody>
      </p:sp>
      <p:sp>
        <p:nvSpPr>
          <p:cNvPr id="13" name="Text 11"/>
          <p:cNvSpPr/>
          <p:nvPr/>
        </p:nvSpPr>
        <p:spPr>
          <a:xfrm>
            <a:off x="6565392" y="2103120"/>
            <a:ext cx="4599432" cy="365760"/>
          </a:xfrm>
          <a:prstGeom prst="rect">
            <a:avLst/>
          </a:prstGeom>
          <a:noFill/>
          <a:ln/>
        </p:spPr>
        <p:txBody>
          <a:bodyPr wrap="square" lIns="0" tIns="0" rIns="0" bIns="0" rtlCol="0" anchor="ctr">
            <a:normAutofit/>
          </a:bodyPr>
          <a:lstStyle/>
          <a:p>
            <a:pPr indent="0" marL="0">
              <a:buNone/>
            </a:pPr>
            <a:r>
              <a:rPr lang="en-US" sz="1600" b="1" dirty="0">
                <a:solidFill>
                  <a:srgbClr val="103624"/>
                </a:solidFill>
                <a:latin typeface="Segoe UI" pitchFamily="34" charset="0"/>
                <a:ea typeface="Segoe UI" pitchFamily="34" charset="-122"/>
                <a:cs typeface="Segoe UI" pitchFamily="34" charset="-120"/>
              </a:rPr>
              <a:t>Azure Functions API and weighted timer</a:t>
            </a:r>
            <a:endParaRPr lang="en-US" sz="1600" dirty="0"/>
          </a:p>
        </p:txBody>
      </p:sp>
      <p:sp>
        <p:nvSpPr>
          <p:cNvPr id="14" name="Shape 12"/>
          <p:cNvSpPr/>
          <p:nvPr/>
        </p:nvSpPr>
        <p:spPr>
          <a:xfrm>
            <a:off x="621792" y="2825496"/>
            <a:ext cx="10936224" cy="676656"/>
          </a:xfrm>
          <a:prstGeom prst="roundRect">
            <a:avLst>
              <a:gd name="adj" fmla="val 16216"/>
            </a:avLst>
          </a:prstGeom>
          <a:solidFill>
            <a:srgbClr val="F7FCF4"/>
          </a:solidFill>
          <a:ln w="13970">
            <a:solidFill>
              <a:srgbClr val="76A987"/>
            </a:solidFill>
            <a:prstDash val="solid"/>
          </a:ln>
        </p:spPr>
      </p:sp>
      <p:sp>
        <p:nvSpPr>
          <p:cNvPr id="15" name="Text 13"/>
          <p:cNvSpPr/>
          <p:nvPr/>
        </p:nvSpPr>
        <p:spPr>
          <a:xfrm>
            <a:off x="859536" y="2980944"/>
            <a:ext cx="1307592" cy="265176"/>
          </a:xfrm>
          <a:prstGeom prst="rect">
            <a:avLst/>
          </a:prstGeom>
          <a:noFill/>
          <a:ln/>
        </p:spPr>
        <p:txBody>
          <a:bodyPr wrap="square" lIns="0" tIns="0" rIns="0" bIns="0" rtlCol="0" anchor="ctr">
            <a:normAutofit/>
          </a:bodyPr>
          <a:lstStyle/>
          <a:p>
            <a:pPr indent="0" marL="0">
              <a:buNone/>
            </a:pPr>
            <a:r>
              <a:rPr lang="en-US" sz="1100" b="1" spc="100" kern="0" dirty="0">
                <a:solidFill>
                  <a:srgbClr val="0C6843"/>
                </a:solidFill>
                <a:latin typeface="Segoe UI" pitchFamily="34" charset="0"/>
                <a:ea typeface="Segoe UI" pitchFamily="34" charset="-122"/>
                <a:cs typeface="Segoe UI" pitchFamily="34" charset="-120"/>
              </a:rPr>
              <a:t>WEB EDGE</a:t>
            </a:r>
            <a:endParaRPr lang="en-US" sz="1100" dirty="0"/>
          </a:p>
        </p:txBody>
      </p:sp>
      <p:sp>
        <p:nvSpPr>
          <p:cNvPr id="16" name="Text 14"/>
          <p:cNvSpPr/>
          <p:nvPr/>
        </p:nvSpPr>
        <p:spPr>
          <a:xfrm>
            <a:off x="2212848" y="2935224"/>
            <a:ext cx="3867912" cy="365760"/>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Nginx included as a log source</a:t>
            </a:r>
            <a:endParaRPr lang="en-US" sz="1600" dirty="0"/>
          </a:p>
        </p:txBody>
      </p:sp>
      <p:sp>
        <p:nvSpPr>
          <p:cNvPr id="17" name="Text 15"/>
          <p:cNvSpPr/>
          <p:nvPr/>
        </p:nvSpPr>
        <p:spPr>
          <a:xfrm>
            <a:off x="6126480" y="2953512"/>
            <a:ext cx="329184" cy="329184"/>
          </a:xfrm>
          <a:prstGeom prst="rect">
            <a:avLst/>
          </a:prstGeom>
          <a:noFill/>
          <a:ln/>
        </p:spPr>
        <p:txBody>
          <a:bodyPr wrap="square" lIns="0" tIns="0" rIns="0" bIns="0" rtlCol="0" anchor="ctr">
            <a:normAutofit/>
          </a:bodyPr>
          <a:lstStyle/>
          <a:p>
            <a:pPr indent="0" marL="0">
              <a:buNone/>
            </a:pPr>
            <a:r>
              <a:rPr lang="en-US" sz="2300" b="1" dirty="0">
                <a:solidFill>
                  <a:srgbClr val="0C6843"/>
                </a:solidFill>
                <a:latin typeface="Segoe UI" pitchFamily="34" charset="0"/>
                <a:ea typeface="Segoe UI" pitchFamily="34" charset="-122"/>
                <a:cs typeface="Segoe UI" pitchFamily="34" charset="-120"/>
              </a:rPr>
              <a:t>→</a:t>
            </a:r>
            <a:endParaRPr lang="en-US" sz="2300" dirty="0"/>
          </a:p>
        </p:txBody>
      </p:sp>
      <p:sp>
        <p:nvSpPr>
          <p:cNvPr id="18" name="Text 16"/>
          <p:cNvSpPr/>
          <p:nvPr/>
        </p:nvSpPr>
        <p:spPr>
          <a:xfrm>
            <a:off x="6565392" y="2935224"/>
            <a:ext cx="4599432" cy="365760"/>
          </a:xfrm>
          <a:prstGeom prst="rect">
            <a:avLst/>
          </a:prstGeom>
          <a:noFill/>
          <a:ln/>
        </p:spPr>
        <p:txBody>
          <a:bodyPr wrap="square" lIns="0" tIns="0" rIns="0" bIns="0" rtlCol="0" anchor="ctr">
            <a:normAutofit/>
          </a:bodyPr>
          <a:lstStyle/>
          <a:p>
            <a:pPr indent="0" marL="0">
              <a:buNone/>
            </a:pPr>
            <a:r>
              <a:rPr lang="en-US" sz="1600" b="1" dirty="0">
                <a:solidFill>
                  <a:srgbClr val="103624"/>
                </a:solidFill>
                <a:latin typeface="Segoe UI" pitchFamily="34" charset="0"/>
                <a:ea typeface="Segoe UI" pitchFamily="34" charset="-122"/>
                <a:cs typeface="Segoe UI" pitchFamily="34" charset="-120"/>
              </a:rPr>
              <a:t>Caddy HTTPS; Filebeat collects logs</a:t>
            </a:r>
            <a:endParaRPr lang="en-US" sz="1600" dirty="0"/>
          </a:p>
        </p:txBody>
      </p:sp>
      <p:sp>
        <p:nvSpPr>
          <p:cNvPr id="19" name="Shape 17"/>
          <p:cNvSpPr/>
          <p:nvPr/>
        </p:nvSpPr>
        <p:spPr>
          <a:xfrm>
            <a:off x="621792" y="3657600"/>
            <a:ext cx="10936224" cy="676656"/>
          </a:xfrm>
          <a:prstGeom prst="roundRect">
            <a:avLst>
              <a:gd name="adj" fmla="val 16216"/>
            </a:avLst>
          </a:prstGeom>
          <a:solidFill>
            <a:srgbClr val="F7FCF4"/>
          </a:solidFill>
          <a:ln w="13970">
            <a:solidFill>
              <a:srgbClr val="76A987"/>
            </a:solidFill>
            <a:prstDash val="solid"/>
          </a:ln>
        </p:spPr>
      </p:sp>
      <p:sp>
        <p:nvSpPr>
          <p:cNvPr id="20" name="Text 18"/>
          <p:cNvSpPr/>
          <p:nvPr/>
        </p:nvSpPr>
        <p:spPr>
          <a:xfrm>
            <a:off x="859536" y="3813048"/>
            <a:ext cx="1307592" cy="265176"/>
          </a:xfrm>
          <a:prstGeom prst="rect">
            <a:avLst/>
          </a:prstGeom>
          <a:noFill/>
          <a:ln/>
        </p:spPr>
        <p:txBody>
          <a:bodyPr wrap="square" lIns="0" tIns="0" rIns="0" bIns="0" rtlCol="0" anchor="ctr">
            <a:normAutofit/>
          </a:bodyPr>
          <a:lstStyle/>
          <a:p>
            <a:pPr indent="0" marL="0">
              <a:buNone/>
            </a:pPr>
            <a:r>
              <a:rPr lang="en-US" sz="1100" b="1" spc="100" kern="0" dirty="0">
                <a:solidFill>
                  <a:srgbClr val="0C6843"/>
                </a:solidFill>
                <a:latin typeface="Segoe UI" pitchFamily="34" charset="0"/>
                <a:ea typeface="Segoe UI" pitchFamily="34" charset="-122"/>
                <a:cs typeface="Segoe UI" pitchFamily="34" charset="-120"/>
              </a:rPr>
              <a:t>RESPONSE</a:t>
            </a:r>
            <a:endParaRPr lang="en-US" sz="1100" dirty="0"/>
          </a:p>
        </p:txBody>
      </p:sp>
      <p:sp>
        <p:nvSpPr>
          <p:cNvPr id="21" name="Text 19"/>
          <p:cNvSpPr/>
          <p:nvPr/>
        </p:nvSpPr>
        <p:spPr>
          <a:xfrm>
            <a:off x="2212848" y="3767328"/>
            <a:ext cx="3867912" cy="365760"/>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Search the Ghost Order in Kibana</a:t>
            </a:r>
            <a:endParaRPr lang="en-US" sz="1600" dirty="0"/>
          </a:p>
        </p:txBody>
      </p:sp>
      <p:sp>
        <p:nvSpPr>
          <p:cNvPr id="22" name="Text 20"/>
          <p:cNvSpPr/>
          <p:nvPr/>
        </p:nvSpPr>
        <p:spPr>
          <a:xfrm>
            <a:off x="6126480" y="3785616"/>
            <a:ext cx="329184" cy="329184"/>
          </a:xfrm>
          <a:prstGeom prst="rect">
            <a:avLst/>
          </a:prstGeom>
          <a:noFill/>
          <a:ln/>
        </p:spPr>
        <p:txBody>
          <a:bodyPr wrap="square" lIns="0" tIns="0" rIns="0" bIns="0" rtlCol="0" anchor="ctr">
            <a:normAutofit/>
          </a:bodyPr>
          <a:lstStyle/>
          <a:p>
            <a:pPr indent="0" marL="0">
              <a:buNone/>
            </a:pPr>
            <a:r>
              <a:rPr lang="en-US" sz="2300" b="1" dirty="0">
                <a:solidFill>
                  <a:srgbClr val="0C6843"/>
                </a:solidFill>
                <a:latin typeface="Segoe UI" pitchFamily="34" charset="0"/>
                <a:ea typeface="Segoe UI" pitchFamily="34" charset="-122"/>
                <a:cs typeface="Segoe UI" pitchFamily="34" charset="-120"/>
              </a:rPr>
              <a:t>→</a:t>
            </a:r>
            <a:endParaRPr lang="en-US" sz="2300" dirty="0"/>
          </a:p>
        </p:txBody>
      </p:sp>
      <p:sp>
        <p:nvSpPr>
          <p:cNvPr id="23" name="Text 21"/>
          <p:cNvSpPr/>
          <p:nvPr/>
        </p:nvSpPr>
        <p:spPr>
          <a:xfrm>
            <a:off x="6565392" y="3767328"/>
            <a:ext cx="4599432" cy="365760"/>
          </a:xfrm>
          <a:prstGeom prst="rect">
            <a:avLst/>
          </a:prstGeom>
          <a:noFill/>
          <a:ln/>
        </p:spPr>
        <p:txBody>
          <a:bodyPr wrap="square" lIns="0" tIns="0" rIns="0" bIns="0" rtlCol="0" anchor="ctr">
            <a:normAutofit/>
          </a:bodyPr>
          <a:lstStyle/>
          <a:p>
            <a:pPr indent="0" marL="0">
              <a:buNone/>
            </a:pPr>
            <a:r>
              <a:rPr lang="en-US" sz="1600" b="1" dirty="0">
                <a:solidFill>
                  <a:srgbClr val="103624"/>
                </a:solidFill>
                <a:latin typeface="Segoe UI" pitchFamily="34" charset="0"/>
                <a:ea typeface="Segoe UI" pitchFamily="34" charset="-122"/>
                <a:cs typeface="Segoe UI" pitchFamily="34" charset="-120"/>
              </a:rPr>
              <a:t>Telegram incident card with trace link</a:t>
            </a:r>
            <a:endParaRPr lang="en-US" sz="1600" dirty="0"/>
          </a:p>
        </p:txBody>
      </p:sp>
      <p:sp>
        <p:nvSpPr>
          <p:cNvPr id="24" name="Shape 22"/>
          <p:cNvSpPr/>
          <p:nvPr/>
        </p:nvSpPr>
        <p:spPr>
          <a:xfrm>
            <a:off x="621792" y="4489704"/>
            <a:ext cx="10936224" cy="676656"/>
          </a:xfrm>
          <a:prstGeom prst="roundRect">
            <a:avLst>
              <a:gd name="adj" fmla="val 16216"/>
            </a:avLst>
          </a:prstGeom>
          <a:solidFill>
            <a:srgbClr val="F7FCF4"/>
          </a:solidFill>
          <a:ln w="13970">
            <a:solidFill>
              <a:srgbClr val="76A987"/>
            </a:solidFill>
            <a:prstDash val="solid"/>
          </a:ln>
        </p:spPr>
      </p:sp>
      <p:sp>
        <p:nvSpPr>
          <p:cNvPr id="25" name="Text 23"/>
          <p:cNvSpPr/>
          <p:nvPr/>
        </p:nvSpPr>
        <p:spPr>
          <a:xfrm>
            <a:off x="859536" y="4645152"/>
            <a:ext cx="1307592" cy="265176"/>
          </a:xfrm>
          <a:prstGeom prst="rect">
            <a:avLst/>
          </a:prstGeom>
          <a:noFill/>
          <a:ln/>
        </p:spPr>
        <p:txBody>
          <a:bodyPr wrap="square" lIns="0" tIns="0" rIns="0" bIns="0" rtlCol="0" anchor="ctr">
            <a:normAutofit/>
          </a:bodyPr>
          <a:lstStyle/>
          <a:p>
            <a:pPr indent="0" marL="0">
              <a:buNone/>
            </a:pPr>
            <a:r>
              <a:rPr lang="en-US" sz="1100" b="1" spc="100" kern="0" dirty="0">
                <a:solidFill>
                  <a:srgbClr val="0C6843"/>
                </a:solidFill>
                <a:latin typeface="Segoe UI" pitchFamily="34" charset="0"/>
                <a:ea typeface="Segoe UI" pitchFamily="34" charset="-122"/>
                <a:cs typeface="Segoe UI" pitchFamily="34" charset="-120"/>
              </a:rPr>
              <a:t>REPORTING</a:t>
            </a:r>
            <a:endParaRPr lang="en-US" sz="1100" dirty="0"/>
          </a:p>
        </p:txBody>
      </p:sp>
      <p:sp>
        <p:nvSpPr>
          <p:cNvPr id="26" name="Text 24"/>
          <p:cNvSpPr/>
          <p:nvPr/>
        </p:nvSpPr>
        <p:spPr>
          <a:xfrm>
            <a:off x="2212848" y="4599432"/>
            <a:ext cx="3867912" cy="365760"/>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Segoe UI" pitchFamily="34" charset="0"/>
                <a:ea typeface="Segoe UI" pitchFamily="34" charset="-122"/>
                <a:cs typeface="Segoe UI" pitchFamily="34" charset="-120"/>
              </a:rPr>
              <a:t>Elasticsearch operational history</a:t>
            </a:r>
            <a:endParaRPr lang="en-US" sz="1600" dirty="0"/>
          </a:p>
        </p:txBody>
      </p:sp>
      <p:sp>
        <p:nvSpPr>
          <p:cNvPr id="27" name="Text 25"/>
          <p:cNvSpPr/>
          <p:nvPr/>
        </p:nvSpPr>
        <p:spPr>
          <a:xfrm>
            <a:off x="6126480" y="4617720"/>
            <a:ext cx="329184" cy="329184"/>
          </a:xfrm>
          <a:prstGeom prst="rect">
            <a:avLst/>
          </a:prstGeom>
          <a:noFill/>
          <a:ln/>
        </p:spPr>
        <p:txBody>
          <a:bodyPr wrap="square" lIns="0" tIns="0" rIns="0" bIns="0" rtlCol="0" anchor="ctr">
            <a:normAutofit/>
          </a:bodyPr>
          <a:lstStyle/>
          <a:p>
            <a:pPr indent="0" marL="0">
              <a:buNone/>
            </a:pPr>
            <a:r>
              <a:rPr lang="en-US" sz="2300" b="1" dirty="0">
                <a:solidFill>
                  <a:srgbClr val="0C6843"/>
                </a:solidFill>
                <a:latin typeface="Segoe UI" pitchFamily="34" charset="0"/>
                <a:ea typeface="Segoe UI" pitchFamily="34" charset="-122"/>
                <a:cs typeface="Segoe UI" pitchFamily="34" charset="-120"/>
              </a:rPr>
              <a:t>→</a:t>
            </a:r>
            <a:endParaRPr lang="en-US" sz="2300" dirty="0"/>
          </a:p>
        </p:txBody>
      </p:sp>
      <p:sp>
        <p:nvSpPr>
          <p:cNvPr id="28" name="Text 26"/>
          <p:cNvSpPr/>
          <p:nvPr/>
        </p:nvSpPr>
        <p:spPr>
          <a:xfrm>
            <a:off x="6565392" y="4599432"/>
            <a:ext cx="4599432" cy="365760"/>
          </a:xfrm>
          <a:prstGeom prst="rect">
            <a:avLst/>
          </a:prstGeom>
          <a:noFill/>
          <a:ln/>
        </p:spPr>
        <p:txBody>
          <a:bodyPr wrap="square" lIns="0" tIns="0" rIns="0" bIns="0" rtlCol="0" anchor="ctr">
            <a:normAutofit/>
          </a:bodyPr>
          <a:lstStyle/>
          <a:p>
            <a:pPr indent="0" marL="0">
              <a:buNone/>
            </a:pPr>
            <a:r>
              <a:rPr lang="en-US" sz="1600" b="1" dirty="0">
                <a:solidFill>
                  <a:srgbClr val="103624"/>
                </a:solidFill>
                <a:latin typeface="Segoe UI" pitchFamily="34" charset="0"/>
                <a:ea typeface="Segoe UI" pitchFamily="34" charset="-122"/>
                <a:cs typeface="Segoe UI" pitchFamily="34" charset="-120"/>
              </a:rPr>
              <a:t>Azure SQL view and idempotent backfill</a:t>
            </a:r>
            <a:endParaRPr lang="en-US" sz="1600" dirty="0"/>
          </a:p>
        </p:txBody>
      </p:sp>
      <p:sp>
        <p:nvSpPr>
          <p:cNvPr id="29" name="Text 27"/>
          <p:cNvSpPr/>
          <p:nvPr/>
        </p:nvSpPr>
        <p:spPr>
          <a:xfrm>
            <a:off x="640080" y="5879592"/>
            <a:ext cx="10652760" cy="283464"/>
          </a:xfrm>
          <a:prstGeom prst="rect">
            <a:avLst/>
          </a:prstGeom>
          <a:noFill/>
          <a:ln/>
        </p:spPr>
        <p:txBody>
          <a:bodyPr wrap="square" lIns="0" tIns="0" rIns="0" bIns="0" rtlCol="0" anchor="ctr">
            <a:normAutofit/>
          </a:bodyPr>
          <a:lstStyle/>
          <a:p>
            <a:pPr indent="0" marL="0">
              <a:buNone/>
            </a:pPr>
            <a:r>
              <a:rPr lang="en-US" sz="1300" dirty="0">
                <a:solidFill>
                  <a:srgbClr val="315842"/>
                </a:solidFill>
                <a:latin typeface="Segoe UI" pitchFamily="34" charset="0"/>
                <a:ea typeface="Segoe UI" pitchFamily="34" charset="-122"/>
                <a:cs typeface="Segoe UI" pitchFamily="34" charset="-120"/>
              </a:rPr>
              <a:t>Power BI data source verified. The report and clean rebuild rehearsal remain open.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03 / THE INCIDENT</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09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Ghost Order event sequence</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Six events share order.id, trace.id, and transaction.id.</a:t>
            </a:r>
            <a:endParaRPr lang="en-US" sz="1700" dirty="0"/>
          </a:p>
        </p:txBody>
      </p:sp>
      <p:sp>
        <p:nvSpPr>
          <p:cNvPr id="9" name="Shape 7"/>
          <p:cNvSpPr/>
          <p:nvPr/>
        </p:nvSpPr>
        <p:spPr>
          <a:xfrm>
            <a:off x="978408" y="2267712"/>
            <a:ext cx="0" cy="402336"/>
          </a:xfrm>
          <a:prstGeom prst="line">
            <a:avLst/>
          </a:prstGeom>
          <a:noFill/>
          <a:ln w="25400">
            <a:solidFill>
              <a:srgbClr val="76A987"/>
            </a:solidFill>
            <a:prstDash val="solid"/>
          </a:ln>
        </p:spPr>
      </p:sp>
      <p:sp>
        <p:nvSpPr>
          <p:cNvPr id="10" name="Shape 8"/>
          <p:cNvSpPr/>
          <p:nvPr/>
        </p:nvSpPr>
        <p:spPr>
          <a:xfrm>
            <a:off x="859536" y="2103120"/>
            <a:ext cx="246888" cy="246888"/>
          </a:xfrm>
          <a:prstGeom prst="ellipse">
            <a:avLst/>
          </a:prstGeom>
          <a:solidFill>
            <a:srgbClr val="0C6843"/>
          </a:solidFill>
          <a:ln w="12700">
            <a:solidFill>
              <a:srgbClr val="0C6843"/>
            </a:solidFill>
            <a:prstDash val="solid"/>
          </a:ln>
        </p:spPr>
      </p:sp>
      <p:sp>
        <p:nvSpPr>
          <p:cNvPr id="11" name="Text 9"/>
          <p:cNvSpPr/>
          <p:nvPr/>
        </p:nvSpPr>
        <p:spPr>
          <a:xfrm>
            <a:off x="1344168" y="2057400"/>
            <a:ext cx="5212080" cy="329184"/>
          </a:xfrm>
          <a:prstGeom prst="rect">
            <a:avLst/>
          </a:prstGeom>
          <a:noFill/>
          <a:ln/>
        </p:spPr>
        <p:txBody>
          <a:bodyPr wrap="square" lIns="0" tIns="0" rIns="0" bIns="0" rtlCol="0" anchor="ctr">
            <a:normAutofit/>
          </a:bodyPr>
          <a:lstStyle/>
          <a:p>
            <a:pPr indent="0" marL="0">
              <a:buNone/>
            </a:pPr>
            <a:r>
              <a:rPr lang="en-US" sz="1800" b="1" dirty="0">
                <a:solidFill>
                  <a:srgbClr val="103624"/>
                </a:solidFill>
                <a:latin typeface="Segoe UI" pitchFamily="34" charset="0"/>
                <a:ea typeface="Segoe UI" pitchFamily="34" charset="-122"/>
                <a:cs typeface="Segoe UI" pitchFamily="34" charset="-120"/>
              </a:rPr>
              <a:t>CHECKOUT_STARTED</a:t>
            </a:r>
            <a:endParaRPr lang="en-US" sz="1800" dirty="0"/>
          </a:p>
        </p:txBody>
      </p:sp>
      <p:sp>
        <p:nvSpPr>
          <p:cNvPr id="12" name="Text 10"/>
          <p:cNvSpPr/>
          <p:nvPr/>
        </p:nvSpPr>
        <p:spPr>
          <a:xfrm>
            <a:off x="7424928" y="2066544"/>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checkout-service</a:t>
            </a:r>
            <a:endParaRPr lang="en-US" sz="1500" dirty="0"/>
          </a:p>
        </p:txBody>
      </p:sp>
      <p:sp>
        <p:nvSpPr>
          <p:cNvPr id="13" name="Shape 11"/>
          <p:cNvSpPr/>
          <p:nvPr/>
        </p:nvSpPr>
        <p:spPr>
          <a:xfrm>
            <a:off x="978408" y="2852928"/>
            <a:ext cx="0" cy="402336"/>
          </a:xfrm>
          <a:prstGeom prst="line">
            <a:avLst/>
          </a:prstGeom>
          <a:noFill/>
          <a:ln w="25400">
            <a:solidFill>
              <a:srgbClr val="76A987"/>
            </a:solidFill>
            <a:prstDash val="solid"/>
          </a:ln>
        </p:spPr>
      </p:sp>
      <p:sp>
        <p:nvSpPr>
          <p:cNvPr id="14" name="Shape 12"/>
          <p:cNvSpPr/>
          <p:nvPr/>
        </p:nvSpPr>
        <p:spPr>
          <a:xfrm>
            <a:off x="859536" y="2688336"/>
            <a:ext cx="246888" cy="246888"/>
          </a:xfrm>
          <a:prstGeom prst="ellipse">
            <a:avLst/>
          </a:prstGeom>
          <a:solidFill>
            <a:srgbClr val="0C6843"/>
          </a:solidFill>
          <a:ln w="12700">
            <a:solidFill>
              <a:srgbClr val="0C6843"/>
            </a:solidFill>
            <a:prstDash val="solid"/>
          </a:ln>
        </p:spPr>
      </p:sp>
      <p:sp>
        <p:nvSpPr>
          <p:cNvPr id="15" name="Text 13"/>
          <p:cNvSpPr/>
          <p:nvPr/>
        </p:nvSpPr>
        <p:spPr>
          <a:xfrm>
            <a:off x="1344168" y="2642616"/>
            <a:ext cx="5212080" cy="329184"/>
          </a:xfrm>
          <a:prstGeom prst="rect">
            <a:avLst/>
          </a:prstGeom>
          <a:noFill/>
          <a:ln/>
        </p:spPr>
        <p:txBody>
          <a:bodyPr wrap="square" lIns="0" tIns="0" rIns="0" bIns="0" rtlCol="0" anchor="ctr">
            <a:normAutofit/>
          </a:bodyPr>
          <a:lstStyle/>
          <a:p>
            <a:pPr indent="0" marL="0">
              <a:buNone/>
            </a:pPr>
            <a:r>
              <a:rPr lang="en-US" sz="1800" b="1" dirty="0">
                <a:solidFill>
                  <a:srgbClr val="103624"/>
                </a:solidFill>
                <a:latin typeface="Segoe UI" pitchFamily="34" charset="0"/>
                <a:ea typeface="Segoe UI" pitchFamily="34" charset="-122"/>
                <a:cs typeface="Segoe UI" pitchFamily="34" charset="-120"/>
              </a:rPr>
              <a:t>INVENTORY_RESERVED</a:t>
            </a:r>
            <a:endParaRPr lang="en-US" sz="1800" dirty="0"/>
          </a:p>
        </p:txBody>
      </p:sp>
      <p:sp>
        <p:nvSpPr>
          <p:cNvPr id="16" name="Text 14"/>
          <p:cNvSpPr/>
          <p:nvPr/>
        </p:nvSpPr>
        <p:spPr>
          <a:xfrm>
            <a:off x="7424928" y="2651760"/>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inventory-service</a:t>
            </a:r>
            <a:endParaRPr lang="en-US" sz="1500" dirty="0"/>
          </a:p>
        </p:txBody>
      </p:sp>
      <p:sp>
        <p:nvSpPr>
          <p:cNvPr id="17" name="Shape 15"/>
          <p:cNvSpPr/>
          <p:nvPr/>
        </p:nvSpPr>
        <p:spPr>
          <a:xfrm>
            <a:off x="978408" y="3438144"/>
            <a:ext cx="0" cy="402336"/>
          </a:xfrm>
          <a:prstGeom prst="line">
            <a:avLst/>
          </a:prstGeom>
          <a:noFill/>
          <a:ln w="25400">
            <a:solidFill>
              <a:srgbClr val="76A987"/>
            </a:solidFill>
            <a:prstDash val="solid"/>
          </a:ln>
        </p:spPr>
      </p:sp>
      <p:sp>
        <p:nvSpPr>
          <p:cNvPr id="18" name="Shape 16"/>
          <p:cNvSpPr/>
          <p:nvPr/>
        </p:nvSpPr>
        <p:spPr>
          <a:xfrm>
            <a:off x="859536" y="3273552"/>
            <a:ext cx="246888" cy="246888"/>
          </a:xfrm>
          <a:prstGeom prst="ellipse">
            <a:avLst/>
          </a:prstGeom>
          <a:solidFill>
            <a:srgbClr val="0C6843"/>
          </a:solidFill>
          <a:ln w="12700">
            <a:solidFill>
              <a:srgbClr val="0C6843"/>
            </a:solidFill>
            <a:prstDash val="solid"/>
          </a:ln>
        </p:spPr>
      </p:sp>
      <p:sp>
        <p:nvSpPr>
          <p:cNvPr id="19" name="Text 17"/>
          <p:cNvSpPr/>
          <p:nvPr/>
        </p:nvSpPr>
        <p:spPr>
          <a:xfrm>
            <a:off x="1344168" y="3227832"/>
            <a:ext cx="5212080" cy="329184"/>
          </a:xfrm>
          <a:prstGeom prst="rect">
            <a:avLst/>
          </a:prstGeom>
          <a:noFill/>
          <a:ln/>
        </p:spPr>
        <p:txBody>
          <a:bodyPr wrap="square" lIns="0" tIns="0" rIns="0" bIns="0" rtlCol="0" anchor="ctr">
            <a:normAutofit/>
          </a:bodyPr>
          <a:lstStyle/>
          <a:p>
            <a:pPr indent="0" marL="0">
              <a:buNone/>
            </a:pPr>
            <a:r>
              <a:rPr lang="en-US" sz="1800" b="1" dirty="0">
                <a:solidFill>
                  <a:srgbClr val="103624"/>
                </a:solidFill>
                <a:latin typeface="Segoe UI" pitchFamily="34" charset="0"/>
                <a:ea typeface="Segoe UI" pitchFamily="34" charset="-122"/>
                <a:cs typeface="Segoe UI" pitchFamily="34" charset="-120"/>
              </a:rPr>
              <a:t>PAYMENT_SUCCESS</a:t>
            </a:r>
            <a:endParaRPr lang="en-US" sz="1800" dirty="0"/>
          </a:p>
        </p:txBody>
      </p:sp>
      <p:sp>
        <p:nvSpPr>
          <p:cNvPr id="20" name="Text 18"/>
          <p:cNvSpPr/>
          <p:nvPr/>
        </p:nvSpPr>
        <p:spPr>
          <a:xfrm>
            <a:off x="7424928" y="3236976"/>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payment-service</a:t>
            </a:r>
            <a:endParaRPr lang="en-US" sz="1500" dirty="0"/>
          </a:p>
        </p:txBody>
      </p:sp>
      <p:sp>
        <p:nvSpPr>
          <p:cNvPr id="21" name="Shape 19"/>
          <p:cNvSpPr/>
          <p:nvPr/>
        </p:nvSpPr>
        <p:spPr>
          <a:xfrm>
            <a:off x="978408" y="4023360"/>
            <a:ext cx="0" cy="402336"/>
          </a:xfrm>
          <a:prstGeom prst="line">
            <a:avLst/>
          </a:prstGeom>
          <a:noFill/>
          <a:ln w="25400">
            <a:solidFill>
              <a:srgbClr val="76A987"/>
            </a:solidFill>
            <a:prstDash val="solid"/>
          </a:ln>
        </p:spPr>
      </p:sp>
      <p:sp>
        <p:nvSpPr>
          <p:cNvPr id="22" name="Shape 20"/>
          <p:cNvSpPr/>
          <p:nvPr/>
        </p:nvSpPr>
        <p:spPr>
          <a:xfrm>
            <a:off x="859536" y="3858768"/>
            <a:ext cx="246888" cy="246888"/>
          </a:xfrm>
          <a:prstGeom prst="ellipse">
            <a:avLst/>
          </a:prstGeom>
          <a:solidFill>
            <a:srgbClr val="A94332"/>
          </a:solidFill>
          <a:ln w="12700">
            <a:solidFill>
              <a:srgbClr val="A94332"/>
            </a:solidFill>
            <a:prstDash val="solid"/>
          </a:ln>
        </p:spPr>
      </p:sp>
      <p:sp>
        <p:nvSpPr>
          <p:cNvPr id="23" name="Text 21"/>
          <p:cNvSpPr/>
          <p:nvPr/>
        </p:nvSpPr>
        <p:spPr>
          <a:xfrm>
            <a:off x="1344168" y="3813048"/>
            <a:ext cx="5212080" cy="329184"/>
          </a:xfrm>
          <a:prstGeom prst="rect">
            <a:avLst/>
          </a:prstGeom>
          <a:noFill/>
          <a:ln/>
        </p:spPr>
        <p:txBody>
          <a:bodyPr wrap="square" lIns="0" tIns="0" rIns="0" bIns="0" rtlCol="0" anchor="ctr">
            <a:normAutofit/>
          </a:bodyPr>
          <a:lstStyle/>
          <a:p>
            <a:pPr indent="0" marL="0">
              <a:buNone/>
            </a:pPr>
            <a:r>
              <a:rPr lang="en-US" sz="1800" b="1" dirty="0">
                <a:solidFill>
                  <a:srgbClr val="A94332"/>
                </a:solidFill>
                <a:latin typeface="Segoe UI" pitchFamily="34" charset="0"/>
                <a:ea typeface="Segoe UI" pitchFamily="34" charset="-122"/>
                <a:cs typeface="Segoe UI" pitchFamily="34" charset="-120"/>
              </a:rPr>
              <a:t>ORDER_CREATE_FAILED</a:t>
            </a:r>
            <a:endParaRPr lang="en-US" sz="1800" dirty="0"/>
          </a:p>
        </p:txBody>
      </p:sp>
      <p:sp>
        <p:nvSpPr>
          <p:cNvPr id="24" name="Text 22"/>
          <p:cNvSpPr/>
          <p:nvPr/>
        </p:nvSpPr>
        <p:spPr>
          <a:xfrm>
            <a:off x="7424928" y="3822192"/>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order-service</a:t>
            </a:r>
            <a:endParaRPr lang="en-US" sz="1500" dirty="0"/>
          </a:p>
        </p:txBody>
      </p:sp>
      <p:sp>
        <p:nvSpPr>
          <p:cNvPr id="25" name="Shape 23"/>
          <p:cNvSpPr/>
          <p:nvPr/>
        </p:nvSpPr>
        <p:spPr>
          <a:xfrm>
            <a:off x="978408" y="4608576"/>
            <a:ext cx="0" cy="402336"/>
          </a:xfrm>
          <a:prstGeom prst="line">
            <a:avLst/>
          </a:prstGeom>
          <a:noFill/>
          <a:ln w="25400">
            <a:solidFill>
              <a:srgbClr val="76A987"/>
            </a:solidFill>
            <a:prstDash val="solid"/>
          </a:ln>
        </p:spPr>
      </p:sp>
      <p:sp>
        <p:nvSpPr>
          <p:cNvPr id="26" name="Shape 24"/>
          <p:cNvSpPr/>
          <p:nvPr/>
        </p:nvSpPr>
        <p:spPr>
          <a:xfrm>
            <a:off x="859536" y="4443984"/>
            <a:ext cx="246888" cy="246888"/>
          </a:xfrm>
          <a:prstGeom prst="ellipse">
            <a:avLst/>
          </a:prstGeom>
          <a:solidFill>
            <a:srgbClr val="A94332"/>
          </a:solidFill>
          <a:ln w="12700">
            <a:solidFill>
              <a:srgbClr val="A94332"/>
            </a:solidFill>
            <a:prstDash val="solid"/>
          </a:ln>
        </p:spPr>
      </p:sp>
      <p:sp>
        <p:nvSpPr>
          <p:cNvPr id="27" name="Text 25"/>
          <p:cNvSpPr/>
          <p:nvPr/>
        </p:nvSpPr>
        <p:spPr>
          <a:xfrm>
            <a:off x="1344168" y="4398264"/>
            <a:ext cx="5212080" cy="329184"/>
          </a:xfrm>
          <a:prstGeom prst="rect">
            <a:avLst/>
          </a:prstGeom>
          <a:noFill/>
          <a:ln/>
        </p:spPr>
        <p:txBody>
          <a:bodyPr wrap="square" lIns="0" tIns="0" rIns="0" bIns="0" rtlCol="0" anchor="ctr">
            <a:normAutofit/>
          </a:bodyPr>
          <a:lstStyle/>
          <a:p>
            <a:pPr indent="0" marL="0">
              <a:buNone/>
            </a:pPr>
            <a:r>
              <a:rPr lang="en-US" sz="1800" b="1" dirty="0">
                <a:solidFill>
                  <a:srgbClr val="A94332"/>
                </a:solidFill>
                <a:latin typeface="Segoe UI" pitchFamily="34" charset="0"/>
                <a:ea typeface="Segoe UI" pitchFamily="34" charset="-122"/>
                <a:cs typeface="Segoe UI" pitchFamily="34" charset="-120"/>
              </a:rPr>
              <a:t>DATABASE_TIMEOUT</a:t>
            </a:r>
            <a:endParaRPr lang="en-US" sz="1800" dirty="0"/>
          </a:p>
        </p:txBody>
      </p:sp>
      <p:sp>
        <p:nvSpPr>
          <p:cNvPr id="28" name="Text 26"/>
          <p:cNvSpPr/>
          <p:nvPr/>
        </p:nvSpPr>
        <p:spPr>
          <a:xfrm>
            <a:off x="7424928" y="4407408"/>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postgresql</a:t>
            </a:r>
            <a:endParaRPr lang="en-US" sz="1500" dirty="0"/>
          </a:p>
        </p:txBody>
      </p:sp>
      <p:sp>
        <p:nvSpPr>
          <p:cNvPr id="29" name="Shape 27"/>
          <p:cNvSpPr/>
          <p:nvPr/>
        </p:nvSpPr>
        <p:spPr>
          <a:xfrm>
            <a:off x="859536" y="5029200"/>
            <a:ext cx="246888" cy="246888"/>
          </a:xfrm>
          <a:prstGeom prst="ellipse">
            <a:avLst/>
          </a:prstGeom>
          <a:solidFill>
            <a:srgbClr val="A94332"/>
          </a:solidFill>
          <a:ln w="12700">
            <a:solidFill>
              <a:srgbClr val="A94332"/>
            </a:solidFill>
            <a:prstDash val="solid"/>
          </a:ln>
        </p:spPr>
      </p:sp>
      <p:sp>
        <p:nvSpPr>
          <p:cNvPr id="30" name="Text 28"/>
          <p:cNvSpPr/>
          <p:nvPr/>
        </p:nvSpPr>
        <p:spPr>
          <a:xfrm>
            <a:off x="1344168" y="4983480"/>
            <a:ext cx="5212080" cy="329184"/>
          </a:xfrm>
          <a:prstGeom prst="rect">
            <a:avLst/>
          </a:prstGeom>
          <a:noFill/>
          <a:ln/>
        </p:spPr>
        <p:txBody>
          <a:bodyPr wrap="square" lIns="0" tIns="0" rIns="0" bIns="0" rtlCol="0" anchor="ctr">
            <a:normAutofit/>
          </a:bodyPr>
          <a:lstStyle/>
          <a:p>
            <a:pPr indent="0" marL="0">
              <a:buNone/>
            </a:pPr>
            <a:r>
              <a:rPr lang="en-US" sz="1800" b="1" dirty="0">
                <a:solidFill>
                  <a:srgbClr val="A94332"/>
                </a:solidFill>
                <a:latin typeface="Segoe UI" pitchFamily="34" charset="0"/>
                <a:ea typeface="Segoe UI" pitchFamily="34" charset="-122"/>
                <a:cs typeface="Segoe UI" pitchFamily="34" charset="-120"/>
              </a:rPr>
              <a:t>HTTP_REQUEST_COMPLETED</a:t>
            </a:r>
            <a:endParaRPr lang="en-US" sz="1800" dirty="0"/>
          </a:p>
        </p:txBody>
      </p:sp>
      <p:sp>
        <p:nvSpPr>
          <p:cNvPr id="31" name="Text 29"/>
          <p:cNvSpPr/>
          <p:nvPr/>
        </p:nvSpPr>
        <p:spPr>
          <a:xfrm>
            <a:off x="7424928" y="4992624"/>
            <a:ext cx="3630168" cy="29260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HTTP 500</a:t>
            </a:r>
            <a:endParaRPr lang="en-US" sz="1500" dirty="0"/>
          </a:p>
        </p:txBody>
      </p:sp>
      <p:sp>
        <p:nvSpPr>
          <p:cNvPr id="32" name="Shape 30"/>
          <p:cNvSpPr/>
          <p:nvPr/>
        </p:nvSpPr>
        <p:spPr>
          <a:xfrm>
            <a:off x="612648" y="5733288"/>
            <a:ext cx="10954512" cy="429768"/>
          </a:xfrm>
          <a:prstGeom prst="roundRect">
            <a:avLst>
              <a:gd name="adj" fmla="val 25532"/>
            </a:avLst>
          </a:prstGeom>
          <a:solidFill>
            <a:srgbClr val="073D2B"/>
          </a:solidFill>
          <a:ln w="12700">
            <a:solidFill>
              <a:srgbClr val="073D2B"/>
            </a:solidFill>
            <a:prstDash val="solid"/>
          </a:ln>
        </p:spPr>
      </p:sp>
      <p:sp>
        <p:nvSpPr>
          <p:cNvPr id="33" name="Text 31"/>
          <p:cNvSpPr/>
          <p:nvPr/>
        </p:nvSpPr>
        <p:spPr>
          <a:xfrm>
            <a:off x="841248" y="5824728"/>
            <a:ext cx="10451592" cy="256032"/>
          </a:xfrm>
          <a:prstGeom prst="rect">
            <a:avLst/>
          </a:prstGeom>
          <a:noFill/>
          <a:ln/>
        </p:spPr>
        <p:txBody>
          <a:bodyPr wrap="square" lIns="0" tIns="0" rIns="0" bIns="0" rtlCol="0" anchor="ctr">
            <a:normAutofit/>
          </a:bodyPr>
          <a:lstStyle/>
          <a:p>
            <a:pPr algn="ctr" indent="0" marL="0">
              <a:buNone/>
            </a:pPr>
            <a:r>
              <a:rPr lang="en-US" sz="1600" b="1" dirty="0">
                <a:solidFill>
                  <a:srgbClr val="F7FCF4"/>
                </a:solidFill>
                <a:latin typeface="Segoe UI" pitchFamily="34" charset="0"/>
                <a:ea typeface="Segoe UI" pitchFamily="34" charset="-122"/>
                <a:cs typeface="Segoe UI" pitchFamily="34" charset="-120"/>
              </a:rPr>
              <a:t>The same trace contains DATABASE_TIMEOUT and the final HTTP 500 event.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03 / INVESTIGATION</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10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Finding the cause in Kibana</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Filter the Operations dashboard by trace ID to inspect the checkout sequence.</a:t>
            </a:r>
            <a:endParaRPr lang="en-US" sz="1700" dirty="0"/>
          </a:p>
        </p:txBody>
      </p:sp>
      <p:sp>
        <p:nvSpPr>
          <p:cNvPr id="9" name="Shape 7"/>
          <p:cNvSpPr/>
          <p:nvPr/>
        </p:nvSpPr>
        <p:spPr>
          <a:xfrm>
            <a:off x="612648" y="1984248"/>
            <a:ext cx="10954512" cy="3575304"/>
          </a:xfrm>
          <a:prstGeom prst="roundRect">
            <a:avLst>
              <a:gd name="adj" fmla="val 3069"/>
            </a:avLst>
          </a:prstGeom>
          <a:solidFill>
            <a:srgbClr val="F7FCF4"/>
          </a:solidFill>
          <a:ln w="13970">
            <a:solidFill>
              <a:srgbClr val="76A987"/>
            </a:solidFill>
            <a:prstDash val="solid"/>
          </a:ln>
        </p:spPr>
      </p:sp>
      <p:sp>
        <p:nvSpPr>
          <p:cNvPr id="10" name="Shape 8"/>
          <p:cNvSpPr/>
          <p:nvPr/>
        </p:nvSpPr>
        <p:spPr>
          <a:xfrm>
            <a:off x="914400" y="2267712"/>
            <a:ext cx="10351008" cy="530352"/>
          </a:xfrm>
          <a:prstGeom prst="roundRect">
            <a:avLst>
              <a:gd name="adj" fmla="val 20690"/>
            </a:avLst>
          </a:prstGeom>
          <a:solidFill>
            <a:srgbClr val="BBDDC2"/>
          </a:solidFill>
          <a:ln w="12700">
            <a:solidFill>
              <a:srgbClr val="BBDDC2"/>
            </a:solidFill>
            <a:prstDash val="solid"/>
          </a:ln>
        </p:spPr>
      </p:sp>
      <p:sp>
        <p:nvSpPr>
          <p:cNvPr id="11" name="Text 9"/>
          <p:cNvSpPr/>
          <p:nvPr/>
        </p:nvSpPr>
        <p:spPr>
          <a:xfrm>
            <a:off x="1152144" y="2386584"/>
            <a:ext cx="9857232" cy="265176"/>
          </a:xfrm>
          <a:prstGeom prst="rect">
            <a:avLst/>
          </a:prstGeom>
          <a:noFill/>
          <a:ln/>
        </p:spPr>
        <p:txBody>
          <a:bodyPr wrap="square" lIns="0" tIns="0" rIns="0" bIns="0" rtlCol="0" anchor="ctr">
            <a:normAutofit/>
          </a:bodyPr>
          <a:lstStyle/>
          <a:p>
            <a:pPr indent="0" marL="0">
              <a:buNone/>
            </a:pPr>
            <a:r>
              <a:rPr lang="en-US" sz="1700" b="1" dirty="0">
                <a:solidFill>
                  <a:srgbClr val="073D2B"/>
                </a:solidFill>
                <a:latin typeface="Consolas" pitchFamily="34" charset="0"/>
                <a:ea typeface="Consolas" pitchFamily="34" charset="-122"/>
                <a:cs typeface="Consolas" pitchFamily="34" charset="-120"/>
              </a:rPr>
              <a:t>trace.id : "selected checkout trace"</a:t>
            </a:r>
            <a:endParaRPr lang="en-US" sz="1700" dirty="0"/>
          </a:p>
        </p:txBody>
      </p:sp>
      <p:sp>
        <p:nvSpPr>
          <p:cNvPr id="12" name="Shape 10"/>
          <p:cNvSpPr/>
          <p:nvPr/>
        </p:nvSpPr>
        <p:spPr>
          <a:xfrm>
            <a:off x="932688" y="3118104"/>
            <a:ext cx="2404872" cy="1783080"/>
          </a:xfrm>
          <a:prstGeom prst="roundRect">
            <a:avLst>
              <a:gd name="adj" fmla="val 6154"/>
            </a:avLst>
          </a:prstGeom>
          <a:solidFill>
            <a:srgbClr val="D4EAD7"/>
          </a:solidFill>
          <a:ln w="13970">
            <a:solidFill>
              <a:srgbClr val="76A987"/>
            </a:solidFill>
            <a:prstDash val="solid"/>
          </a:ln>
        </p:spPr>
      </p:sp>
      <p:sp>
        <p:nvSpPr>
          <p:cNvPr id="13" name="Text 11"/>
          <p:cNvSpPr/>
          <p:nvPr/>
        </p:nvSpPr>
        <p:spPr>
          <a:xfrm>
            <a:off x="1097280" y="3419856"/>
            <a:ext cx="2103120" cy="347472"/>
          </a:xfrm>
          <a:prstGeom prst="rect">
            <a:avLst/>
          </a:prstGeom>
          <a:noFill/>
          <a:ln/>
        </p:spPr>
        <p:txBody>
          <a:bodyPr wrap="square" lIns="0" tIns="0" rIns="0" bIns="0" rtlCol="0" anchor="ctr">
            <a:normAutofit/>
          </a:bodyPr>
          <a:lstStyle/>
          <a:p>
            <a:pPr indent="0" marL="0">
              <a:buNone/>
            </a:pPr>
            <a:r>
              <a:rPr lang="en-US" sz="2000" b="1" dirty="0">
                <a:solidFill>
                  <a:srgbClr val="0C6843"/>
                </a:solidFill>
                <a:latin typeface="Segoe UI" pitchFamily="34" charset="0"/>
                <a:ea typeface="Segoe UI" pitchFamily="34" charset="-122"/>
                <a:cs typeface="Segoe UI" pitchFamily="34" charset="-120"/>
              </a:rPr>
              <a:t>MAJLIS</a:t>
            </a:r>
            <a:endParaRPr lang="en-US" sz="2000" dirty="0"/>
          </a:p>
        </p:txBody>
      </p:sp>
      <p:sp>
        <p:nvSpPr>
          <p:cNvPr id="14" name="Text 12"/>
          <p:cNvSpPr/>
          <p:nvPr/>
        </p:nvSpPr>
        <p:spPr>
          <a:xfrm>
            <a:off x="1097280" y="3968496"/>
            <a:ext cx="2084832" cy="512064"/>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Operations overview</a:t>
            </a:r>
            <a:endParaRPr lang="en-US" sz="1400" dirty="0"/>
          </a:p>
        </p:txBody>
      </p:sp>
      <p:sp>
        <p:nvSpPr>
          <p:cNvPr id="15" name="Shape 13"/>
          <p:cNvSpPr/>
          <p:nvPr/>
        </p:nvSpPr>
        <p:spPr>
          <a:xfrm>
            <a:off x="3538728" y="3118104"/>
            <a:ext cx="2404872" cy="1783080"/>
          </a:xfrm>
          <a:prstGeom prst="roundRect">
            <a:avLst>
              <a:gd name="adj" fmla="val 6154"/>
            </a:avLst>
          </a:prstGeom>
          <a:solidFill>
            <a:srgbClr val="D4EAD7"/>
          </a:solidFill>
          <a:ln w="13970">
            <a:solidFill>
              <a:srgbClr val="76A987"/>
            </a:solidFill>
            <a:prstDash val="solid"/>
          </a:ln>
        </p:spPr>
      </p:sp>
      <p:sp>
        <p:nvSpPr>
          <p:cNvPr id="16" name="Text 14"/>
          <p:cNvSpPr/>
          <p:nvPr/>
        </p:nvSpPr>
        <p:spPr>
          <a:xfrm>
            <a:off x="3703320" y="3419856"/>
            <a:ext cx="2103120" cy="347472"/>
          </a:xfrm>
          <a:prstGeom prst="rect">
            <a:avLst/>
          </a:prstGeom>
          <a:noFill/>
          <a:ln/>
        </p:spPr>
        <p:txBody>
          <a:bodyPr wrap="square" lIns="0" tIns="0" rIns="0" bIns="0" rtlCol="0" anchor="ctr">
            <a:normAutofit/>
          </a:bodyPr>
          <a:lstStyle/>
          <a:p>
            <a:pPr indent="0" marL="0">
              <a:buNone/>
            </a:pPr>
            <a:r>
              <a:rPr lang="en-US" sz="2000" b="1" dirty="0">
                <a:solidFill>
                  <a:srgbClr val="0C6843"/>
                </a:solidFill>
                <a:latin typeface="Segoe UI" pitchFamily="34" charset="0"/>
                <a:ea typeface="Segoe UI" pitchFamily="34" charset="-122"/>
                <a:cs typeface="Segoe UI" pitchFamily="34" charset="-120"/>
              </a:rPr>
              <a:t>NABD</a:t>
            </a:r>
            <a:endParaRPr lang="en-US" sz="2000" dirty="0"/>
          </a:p>
        </p:txBody>
      </p:sp>
      <p:sp>
        <p:nvSpPr>
          <p:cNvPr id="17" name="Text 15"/>
          <p:cNvSpPr/>
          <p:nvPr/>
        </p:nvSpPr>
        <p:spPr>
          <a:xfrm>
            <a:off x="3703320" y="3968496"/>
            <a:ext cx="2084832" cy="512064"/>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Signals and events</a:t>
            </a:r>
            <a:endParaRPr lang="en-US" sz="1400" dirty="0"/>
          </a:p>
        </p:txBody>
      </p:sp>
      <p:sp>
        <p:nvSpPr>
          <p:cNvPr id="18" name="Shape 16"/>
          <p:cNvSpPr/>
          <p:nvPr/>
        </p:nvSpPr>
        <p:spPr>
          <a:xfrm>
            <a:off x="6144768" y="3118104"/>
            <a:ext cx="2404872" cy="1783080"/>
          </a:xfrm>
          <a:prstGeom prst="roundRect">
            <a:avLst>
              <a:gd name="adj" fmla="val 6154"/>
            </a:avLst>
          </a:prstGeom>
          <a:solidFill>
            <a:srgbClr val="D4EAD7"/>
          </a:solidFill>
          <a:ln w="13970">
            <a:solidFill>
              <a:srgbClr val="76A987"/>
            </a:solidFill>
            <a:prstDash val="solid"/>
          </a:ln>
        </p:spPr>
      </p:sp>
      <p:sp>
        <p:nvSpPr>
          <p:cNvPr id="19" name="Text 17"/>
          <p:cNvSpPr/>
          <p:nvPr/>
        </p:nvSpPr>
        <p:spPr>
          <a:xfrm>
            <a:off x="6309360" y="3419856"/>
            <a:ext cx="2103120" cy="347472"/>
          </a:xfrm>
          <a:prstGeom prst="rect">
            <a:avLst/>
          </a:prstGeom>
          <a:noFill/>
          <a:ln/>
        </p:spPr>
        <p:txBody>
          <a:bodyPr wrap="square" lIns="0" tIns="0" rIns="0" bIns="0" rtlCol="0" anchor="ctr">
            <a:normAutofit/>
          </a:bodyPr>
          <a:lstStyle/>
          <a:p>
            <a:pPr indent="0" marL="0">
              <a:buNone/>
            </a:pPr>
            <a:r>
              <a:rPr lang="en-US" sz="2000" b="1" dirty="0">
                <a:solidFill>
                  <a:srgbClr val="0C6843"/>
                </a:solidFill>
                <a:latin typeface="Segoe UI" pitchFamily="34" charset="0"/>
                <a:ea typeface="Segoe UI" pitchFamily="34" charset="-122"/>
                <a:cs typeface="Segoe UI" pitchFamily="34" charset="-120"/>
              </a:rPr>
              <a:t>MASAR</a:t>
            </a:r>
            <a:endParaRPr lang="en-US" sz="2000" dirty="0"/>
          </a:p>
        </p:txBody>
      </p:sp>
      <p:sp>
        <p:nvSpPr>
          <p:cNvPr id="20" name="Text 18"/>
          <p:cNvSpPr/>
          <p:nvPr/>
        </p:nvSpPr>
        <p:spPr>
          <a:xfrm>
            <a:off x="6309360" y="3968496"/>
            <a:ext cx="2084832" cy="512064"/>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Trace journey</a:t>
            </a:r>
            <a:endParaRPr lang="en-US" sz="1400" dirty="0"/>
          </a:p>
        </p:txBody>
      </p:sp>
      <p:sp>
        <p:nvSpPr>
          <p:cNvPr id="21" name="Shape 19"/>
          <p:cNvSpPr/>
          <p:nvPr/>
        </p:nvSpPr>
        <p:spPr>
          <a:xfrm>
            <a:off x="8750808" y="3118104"/>
            <a:ext cx="2404872" cy="1783080"/>
          </a:xfrm>
          <a:prstGeom prst="roundRect">
            <a:avLst>
              <a:gd name="adj" fmla="val 6154"/>
            </a:avLst>
          </a:prstGeom>
          <a:solidFill>
            <a:srgbClr val="D4EAD7"/>
          </a:solidFill>
          <a:ln w="13970">
            <a:solidFill>
              <a:srgbClr val="76A987"/>
            </a:solidFill>
            <a:prstDash val="solid"/>
          </a:ln>
        </p:spPr>
      </p:sp>
      <p:sp>
        <p:nvSpPr>
          <p:cNvPr id="22" name="Text 20"/>
          <p:cNvSpPr/>
          <p:nvPr/>
        </p:nvSpPr>
        <p:spPr>
          <a:xfrm>
            <a:off x="8915400" y="3419856"/>
            <a:ext cx="2103120" cy="347472"/>
          </a:xfrm>
          <a:prstGeom prst="rect">
            <a:avLst/>
          </a:prstGeom>
          <a:noFill/>
          <a:ln/>
        </p:spPr>
        <p:txBody>
          <a:bodyPr wrap="square" lIns="0" tIns="0" rIns="0" bIns="0" rtlCol="0" anchor="ctr">
            <a:normAutofit/>
          </a:bodyPr>
          <a:lstStyle/>
          <a:p>
            <a:pPr indent="0" marL="0">
              <a:buNone/>
            </a:pPr>
            <a:r>
              <a:rPr lang="en-US" sz="2000" b="1" dirty="0">
                <a:solidFill>
                  <a:srgbClr val="0C6843"/>
                </a:solidFill>
                <a:latin typeface="Segoe UI" pitchFamily="34" charset="0"/>
                <a:ea typeface="Segoe UI" pitchFamily="34" charset="-122"/>
                <a:cs typeface="Segoe UI" pitchFamily="34" charset="-120"/>
              </a:rPr>
              <a:t>ATHAR</a:t>
            </a:r>
            <a:endParaRPr lang="en-US" sz="2000" dirty="0"/>
          </a:p>
        </p:txBody>
      </p:sp>
      <p:sp>
        <p:nvSpPr>
          <p:cNvPr id="23" name="Text 21"/>
          <p:cNvSpPr/>
          <p:nvPr/>
        </p:nvSpPr>
        <p:spPr>
          <a:xfrm>
            <a:off x="8915400" y="3968496"/>
            <a:ext cx="2084832" cy="512064"/>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Evidence details</a:t>
            </a:r>
            <a:endParaRPr lang="en-US" sz="1400" dirty="0"/>
          </a:p>
        </p:txBody>
      </p:sp>
      <p:sp>
        <p:nvSpPr>
          <p:cNvPr id="24" name="Text 22"/>
          <p:cNvSpPr/>
          <p:nvPr/>
        </p:nvSpPr>
        <p:spPr>
          <a:xfrm>
            <a:off x="640080" y="5852160"/>
            <a:ext cx="10607040" cy="265176"/>
          </a:xfrm>
          <a:prstGeom prst="rect">
            <a:avLst/>
          </a:prstGeom>
          <a:noFill/>
          <a:ln/>
        </p:spPr>
        <p:txBody>
          <a:bodyPr wrap="square" lIns="0" tIns="0" rIns="0" bIns="0" rtlCol="0" anchor="ctr">
            <a:normAutofit/>
          </a:bodyPr>
          <a:lstStyle/>
          <a:p>
            <a:pPr indent="0" marL="0">
              <a:buNone/>
            </a:pPr>
            <a:r>
              <a:rPr lang="en-US" sz="1200" dirty="0">
                <a:solidFill>
                  <a:srgbClr val="315842"/>
                </a:solidFill>
                <a:latin typeface="Segoe UI" pitchFamily="34" charset="0"/>
                <a:ea typeface="Segoe UI" pitchFamily="34" charset="-122"/>
                <a:cs typeface="Segoe UI" pitchFamily="34" charset="-120"/>
              </a:rPr>
              <a:t>Diagram of the four saved views in the Operations dashboard.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03 / RESPONSE</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11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Telegram incident card</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Failed checkouts generate a summary with severity, cause, and a Kibana link.</a:t>
            </a:r>
            <a:endParaRPr lang="en-US" sz="1700" dirty="0"/>
          </a:p>
        </p:txBody>
      </p:sp>
      <p:sp>
        <p:nvSpPr>
          <p:cNvPr id="9" name="Shape 7"/>
          <p:cNvSpPr/>
          <p:nvPr/>
        </p:nvSpPr>
        <p:spPr>
          <a:xfrm>
            <a:off x="621792" y="1947672"/>
            <a:ext cx="6309360" cy="3785616"/>
          </a:xfrm>
          <a:prstGeom prst="roundRect">
            <a:avLst>
              <a:gd name="adj" fmla="val 2899"/>
            </a:avLst>
          </a:prstGeom>
          <a:solidFill>
            <a:srgbClr val="F7FCF4"/>
          </a:solidFill>
          <a:ln w="13970">
            <a:solidFill>
              <a:srgbClr val="76A987"/>
            </a:solidFill>
            <a:prstDash val="solid"/>
          </a:ln>
        </p:spPr>
      </p:sp>
      <p:sp>
        <p:nvSpPr>
          <p:cNvPr id="10" name="Shape 8"/>
          <p:cNvSpPr/>
          <p:nvPr/>
        </p:nvSpPr>
        <p:spPr>
          <a:xfrm>
            <a:off x="932688" y="2258568"/>
            <a:ext cx="5696712" cy="566928"/>
          </a:xfrm>
          <a:prstGeom prst="roundRect">
            <a:avLst>
              <a:gd name="adj" fmla="val 19355"/>
            </a:avLst>
          </a:prstGeom>
          <a:solidFill>
            <a:srgbClr val="F6DDD3"/>
          </a:solidFill>
          <a:ln w="12700">
            <a:solidFill>
              <a:srgbClr val="F6DDD3"/>
            </a:solidFill>
            <a:prstDash val="solid"/>
          </a:ln>
        </p:spPr>
      </p:sp>
      <p:sp>
        <p:nvSpPr>
          <p:cNvPr id="11" name="Text 9"/>
          <p:cNvSpPr/>
          <p:nvPr/>
        </p:nvSpPr>
        <p:spPr>
          <a:xfrm>
            <a:off x="1161288" y="2414016"/>
            <a:ext cx="5266944" cy="256032"/>
          </a:xfrm>
          <a:prstGeom prst="rect">
            <a:avLst/>
          </a:prstGeom>
          <a:noFill/>
          <a:ln/>
        </p:spPr>
        <p:txBody>
          <a:bodyPr wrap="square" lIns="0" tIns="0" rIns="0" bIns="0" rtlCol="0" anchor="ctr">
            <a:normAutofit/>
          </a:bodyPr>
          <a:lstStyle/>
          <a:p>
            <a:pPr indent="0" marL="0">
              <a:buNone/>
            </a:pPr>
            <a:r>
              <a:rPr lang="en-US" sz="1700" b="1" dirty="0">
                <a:solidFill>
                  <a:srgbClr val="A94332"/>
                </a:solidFill>
                <a:latin typeface="Segoe UI" pitchFamily="34" charset="0"/>
                <a:ea typeface="Segoe UI" pitchFamily="34" charset="-122"/>
                <a:cs typeface="Segoe UI" pitchFamily="34" charset="-120"/>
              </a:rPr>
              <a:t>CRITICAL  /  GHOST ORDER</a:t>
            </a:r>
            <a:endParaRPr lang="en-US" sz="1700" dirty="0"/>
          </a:p>
        </p:txBody>
      </p:sp>
      <p:sp>
        <p:nvSpPr>
          <p:cNvPr id="12" name="Text 10"/>
          <p:cNvSpPr/>
          <p:nvPr/>
        </p:nvSpPr>
        <p:spPr>
          <a:xfrm>
            <a:off x="1024128" y="3081528"/>
            <a:ext cx="1106424" cy="265176"/>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IMPACT</a:t>
            </a:r>
            <a:endParaRPr lang="en-US" sz="1100" dirty="0"/>
          </a:p>
        </p:txBody>
      </p:sp>
      <p:sp>
        <p:nvSpPr>
          <p:cNvPr id="13" name="Text 11"/>
          <p:cNvSpPr/>
          <p:nvPr/>
        </p:nvSpPr>
        <p:spPr>
          <a:xfrm>
            <a:off x="2350008" y="3063240"/>
            <a:ext cx="3986784" cy="329184"/>
          </a:xfrm>
          <a:prstGeom prst="rect">
            <a:avLst/>
          </a:prstGeom>
          <a:noFill/>
          <a:ln/>
        </p:spPr>
        <p:txBody>
          <a:bodyPr wrap="square" lIns="0" tIns="0" rIns="0" bIns="0" rtlCol="0" anchor="ctr">
            <a:normAutofit/>
          </a:bodyPr>
          <a:lstStyle/>
          <a:p>
            <a:pPr indent="0" marL="0">
              <a:buNone/>
            </a:pPr>
            <a:r>
              <a:rPr lang="en-US" sz="1500" dirty="0">
                <a:solidFill>
                  <a:srgbClr val="103624"/>
                </a:solidFill>
                <a:latin typeface="Segoe UI" pitchFamily="34" charset="0"/>
                <a:ea typeface="Segoe UI" pitchFamily="34" charset="-122"/>
                <a:cs typeface="Segoe UI" pitchFamily="34" charset="-120"/>
              </a:rPr>
              <a:t>Payment authorized; order not created</a:t>
            </a:r>
            <a:endParaRPr lang="en-US" sz="1500" dirty="0"/>
          </a:p>
        </p:txBody>
      </p:sp>
      <p:sp>
        <p:nvSpPr>
          <p:cNvPr id="14" name="Text 12"/>
          <p:cNvSpPr/>
          <p:nvPr/>
        </p:nvSpPr>
        <p:spPr>
          <a:xfrm>
            <a:off x="1024128" y="3602736"/>
            <a:ext cx="1106424" cy="265176"/>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SERVICE</a:t>
            </a:r>
            <a:endParaRPr lang="en-US" sz="1100" dirty="0"/>
          </a:p>
        </p:txBody>
      </p:sp>
      <p:sp>
        <p:nvSpPr>
          <p:cNvPr id="15" name="Text 13"/>
          <p:cNvSpPr/>
          <p:nvPr/>
        </p:nvSpPr>
        <p:spPr>
          <a:xfrm>
            <a:off x="2350008" y="3584448"/>
            <a:ext cx="3986784" cy="329184"/>
          </a:xfrm>
          <a:prstGeom prst="rect">
            <a:avLst/>
          </a:prstGeom>
          <a:noFill/>
          <a:ln/>
        </p:spPr>
        <p:txBody>
          <a:bodyPr wrap="square" lIns="0" tIns="0" rIns="0" bIns="0" rtlCol="0" anchor="ctr">
            <a:normAutofit/>
          </a:bodyPr>
          <a:lstStyle/>
          <a:p>
            <a:pPr indent="0" marL="0">
              <a:buNone/>
            </a:pPr>
            <a:r>
              <a:rPr lang="en-US" sz="1500" dirty="0">
                <a:solidFill>
                  <a:srgbClr val="103624"/>
                </a:solidFill>
                <a:latin typeface="Segoe UI" pitchFamily="34" charset="0"/>
                <a:ea typeface="Segoe UI" pitchFamily="34" charset="-122"/>
                <a:cs typeface="Segoe UI" pitchFamily="34" charset="-120"/>
              </a:rPr>
              <a:t>order-service</a:t>
            </a:r>
            <a:endParaRPr lang="en-US" sz="1500" dirty="0"/>
          </a:p>
        </p:txBody>
      </p:sp>
      <p:sp>
        <p:nvSpPr>
          <p:cNvPr id="16" name="Text 14"/>
          <p:cNvSpPr/>
          <p:nvPr/>
        </p:nvSpPr>
        <p:spPr>
          <a:xfrm>
            <a:off x="1024128" y="4123944"/>
            <a:ext cx="1106424" cy="265176"/>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CAUSE</a:t>
            </a:r>
            <a:endParaRPr lang="en-US" sz="1100" dirty="0"/>
          </a:p>
        </p:txBody>
      </p:sp>
      <p:sp>
        <p:nvSpPr>
          <p:cNvPr id="17" name="Text 15"/>
          <p:cNvSpPr/>
          <p:nvPr/>
        </p:nvSpPr>
        <p:spPr>
          <a:xfrm>
            <a:off x="2350008" y="4105656"/>
            <a:ext cx="3986784" cy="329184"/>
          </a:xfrm>
          <a:prstGeom prst="rect">
            <a:avLst/>
          </a:prstGeom>
          <a:noFill/>
          <a:ln/>
        </p:spPr>
        <p:txBody>
          <a:bodyPr wrap="square" lIns="0" tIns="0" rIns="0" bIns="0" rtlCol="0" anchor="ctr">
            <a:normAutofit/>
          </a:bodyPr>
          <a:lstStyle/>
          <a:p>
            <a:pPr indent="0" marL="0">
              <a:buNone/>
            </a:pPr>
            <a:r>
              <a:rPr lang="en-US" sz="1500" dirty="0">
                <a:solidFill>
                  <a:srgbClr val="103624"/>
                </a:solidFill>
                <a:latin typeface="Segoe UI" pitchFamily="34" charset="0"/>
                <a:ea typeface="Segoe UI" pitchFamily="34" charset="-122"/>
                <a:cs typeface="Segoe UI" pitchFamily="34" charset="-120"/>
              </a:rPr>
              <a:t>Database connection pool timeout</a:t>
            </a:r>
            <a:endParaRPr lang="en-US" sz="1500" dirty="0"/>
          </a:p>
        </p:txBody>
      </p:sp>
      <p:sp>
        <p:nvSpPr>
          <p:cNvPr id="18" name="Text 16"/>
          <p:cNvSpPr/>
          <p:nvPr/>
        </p:nvSpPr>
        <p:spPr>
          <a:xfrm>
            <a:off x="1024128" y="4645152"/>
            <a:ext cx="1106424" cy="265176"/>
          </a:xfrm>
          <a:prstGeom prst="rect">
            <a:avLst/>
          </a:prstGeom>
          <a:noFill/>
          <a:ln/>
        </p:spPr>
        <p:txBody>
          <a:bodyPr wrap="square" lIns="0" tIns="0" rIns="0" bIns="0" rtlCol="0" anchor="ctr">
            <a:normAutofit/>
          </a:bodyPr>
          <a:lstStyle/>
          <a:p>
            <a:pPr indent="0" marL="0">
              <a:buNone/>
            </a:pPr>
            <a:r>
              <a:rPr lang="en-US" sz="1100" b="1" spc="100" kern="0" dirty="0">
                <a:solidFill>
                  <a:srgbClr val="315842"/>
                </a:solidFill>
                <a:latin typeface="Segoe UI" pitchFamily="34" charset="0"/>
                <a:ea typeface="Segoe UI" pitchFamily="34" charset="-122"/>
                <a:cs typeface="Segoe UI" pitchFamily="34" charset="-120"/>
              </a:rPr>
              <a:t>TRACE</a:t>
            </a:r>
            <a:endParaRPr lang="en-US" sz="1100" dirty="0"/>
          </a:p>
        </p:txBody>
      </p:sp>
      <p:sp>
        <p:nvSpPr>
          <p:cNvPr id="19" name="Text 17"/>
          <p:cNvSpPr/>
          <p:nvPr/>
        </p:nvSpPr>
        <p:spPr>
          <a:xfrm>
            <a:off x="2350008" y="4626864"/>
            <a:ext cx="3986784" cy="329184"/>
          </a:xfrm>
          <a:prstGeom prst="rect">
            <a:avLst/>
          </a:prstGeom>
          <a:noFill/>
          <a:ln/>
        </p:spPr>
        <p:txBody>
          <a:bodyPr wrap="square" lIns="0" tIns="0" rIns="0" bIns="0" rtlCol="0" anchor="ctr">
            <a:normAutofit/>
          </a:bodyPr>
          <a:lstStyle/>
          <a:p>
            <a:pPr indent="0" marL="0">
              <a:buNone/>
            </a:pPr>
            <a:r>
              <a:rPr lang="en-US" sz="1500" dirty="0">
                <a:solidFill>
                  <a:srgbClr val="103624"/>
                </a:solidFill>
                <a:latin typeface="Segoe UI" pitchFamily="34" charset="0"/>
                <a:ea typeface="Segoe UI" pitchFamily="34" charset="-122"/>
                <a:cs typeface="Segoe UI" pitchFamily="34" charset="-120"/>
              </a:rPr>
              <a:t>Links to the exact Kibana investigation</a:t>
            </a:r>
            <a:endParaRPr lang="en-US" sz="1500" dirty="0"/>
          </a:p>
        </p:txBody>
      </p:sp>
      <p:sp>
        <p:nvSpPr>
          <p:cNvPr id="20" name="Shape 18"/>
          <p:cNvSpPr/>
          <p:nvPr/>
        </p:nvSpPr>
        <p:spPr>
          <a:xfrm>
            <a:off x="1024128" y="5193792"/>
            <a:ext cx="5468112" cy="356616"/>
          </a:xfrm>
          <a:prstGeom prst="roundRect">
            <a:avLst>
              <a:gd name="adj" fmla="val 30769"/>
            </a:avLst>
          </a:prstGeom>
          <a:solidFill>
            <a:srgbClr val="073D2B"/>
          </a:solidFill>
          <a:ln w="12700">
            <a:solidFill>
              <a:srgbClr val="073D2B"/>
            </a:solidFill>
            <a:prstDash val="solid"/>
          </a:ln>
        </p:spPr>
      </p:sp>
      <p:sp>
        <p:nvSpPr>
          <p:cNvPr id="21" name="Text 19"/>
          <p:cNvSpPr/>
          <p:nvPr/>
        </p:nvSpPr>
        <p:spPr>
          <a:xfrm>
            <a:off x="1161288" y="5257800"/>
            <a:ext cx="5184648" cy="219456"/>
          </a:xfrm>
          <a:prstGeom prst="rect">
            <a:avLst/>
          </a:prstGeom>
          <a:noFill/>
          <a:ln/>
        </p:spPr>
        <p:txBody>
          <a:bodyPr wrap="square" lIns="0" tIns="0" rIns="0" bIns="0" rtlCol="0" anchor="ctr">
            <a:normAutofit/>
          </a:bodyPr>
          <a:lstStyle/>
          <a:p>
            <a:pPr algn="ctr" indent="0" marL="0">
              <a:buNone/>
            </a:pPr>
            <a:r>
              <a:rPr lang="en-US" sz="1200" b="1" dirty="0">
                <a:solidFill>
                  <a:srgbClr val="F7FCF4"/>
                </a:solidFill>
                <a:latin typeface="Segoe UI" pitchFamily="34" charset="0"/>
                <a:ea typeface="Segoe UI" pitchFamily="34" charset="-122"/>
                <a:cs typeface="Segoe UI" pitchFamily="34" charset="-120"/>
              </a:rPr>
              <a:t>INVESTIGATE IN KIBANA  ↗</a:t>
            </a:r>
            <a:endParaRPr lang="en-US" sz="1200" dirty="0"/>
          </a:p>
        </p:txBody>
      </p:sp>
      <p:pic>
        <p:nvPicPr>
          <p:cNvPr id="22" name="Image 0" descr="/mnt/c/Users/Saud/Documents/ChatGPT/SDA/presentation/assets/azure/key-vault.png">    </p:cNvPr>
          <p:cNvPicPr>
            <a:picLocks noChangeAspect="1"/>
          </p:cNvPicPr>
          <p:nvPr/>
        </p:nvPicPr>
        <p:blipFill>
          <a:blip r:embed="rId1"/>
          <a:stretch>
            <a:fillRect/>
          </a:stretch>
        </p:blipFill>
        <p:spPr>
          <a:xfrm>
            <a:off x="7635240" y="2340864"/>
            <a:ext cx="950976" cy="950976"/>
          </a:xfrm>
          <a:prstGeom prst="rect">
            <a:avLst/>
          </a:prstGeom>
        </p:spPr>
      </p:pic>
      <p:sp>
        <p:nvSpPr>
          <p:cNvPr id="23" name="Text 20"/>
          <p:cNvSpPr/>
          <p:nvPr/>
        </p:nvSpPr>
        <p:spPr>
          <a:xfrm>
            <a:off x="7635240" y="3511296"/>
            <a:ext cx="3593592" cy="1069848"/>
          </a:xfrm>
          <a:prstGeom prst="rect">
            <a:avLst/>
          </a:prstGeom>
          <a:noFill/>
          <a:ln/>
        </p:spPr>
        <p:txBody>
          <a:bodyPr wrap="square" lIns="0" tIns="0" rIns="0" bIns="0" rtlCol="0" anchor="ctr">
            <a:normAutofit/>
          </a:bodyPr>
          <a:lstStyle/>
          <a:p>
            <a:pPr indent="0" marL="0">
              <a:buNone/>
            </a:pPr>
            <a:r>
              <a:rPr lang="en-US" sz="2400" b="1" dirty="0">
                <a:solidFill>
                  <a:srgbClr val="103624"/>
                </a:solidFill>
                <a:latin typeface="Bahnschrift" pitchFamily="34" charset="0"/>
                <a:ea typeface="Bahnschrift" pitchFamily="34" charset="-122"/>
                <a:cs typeface="Bahnschrift" pitchFamily="34" charset="-120"/>
              </a:rPr>
              <a:t>Bot credentials</a:t>
            </a:r>
            <a:endParaRPr lang="en-US" sz="2400" dirty="0"/>
          </a:p>
          <a:p>
            <a:pPr indent="0" marL="0">
              <a:buNone/>
            </a:pPr>
            <a:r>
              <a:rPr lang="en-US" sz="2400" b="1" dirty="0">
                <a:solidFill>
                  <a:srgbClr val="103624"/>
                </a:solidFill>
                <a:latin typeface="Bahnschrift" pitchFamily="34" charset="0"/>
                <a:ea typeface="Bahnschrift" pitchFamily="34" charset="-122"/>
                <a:cs typeface="Bahnschrift" pitchFamily="34" charset="-120"/>
              </a:rPr>
              <a:t>in Azure Key Vault</a:t>
            </a:r>
            <a:endParaRPr lang="en-US" sz="2400" dirty="0"/>
          </a:p>
        </p:txBody>
      </p:sp>
      <p:sp>
        <p:nvSpPr>
          <p:cNvPr id="24" name="Text 21"/>
          <p:cNvSpPr/>
          <p:nvPr/>
        </p:nvSpPr>
        <p:spPr>
          <a:xfrm>
            <a:off x="7644384" y="4855464"/>
            <a:ext cx="3575304" cy="704088"/>
          </a:xfrm>
          <a:prstGeom prst="rect">
            <a:avLst/>
          </a:prstGeom>
          <a:noFill/>
          <a:ln/>
        </p:spPr>
        <p:txBody>
          <a:bodyPr wrap="square" lIns="0" tIns="0" rIns="0" bIns="0" rtlCol="0" anchor="ctr">
            <a:normAutofit/>
          </a:bodyPr>
          <a:lstStyle/>
          <a:p>
            <a:pPr indent="0" marL="0">
              <a:buNone/>
            </a:pPr>
            <a:r>
              <a:rPr lang="en-US" sz="1500" dirty="0">
                <a:solidFill>
                  <a:srgbClr val="315842"/>
                </a:solidFill>
                <a:latin typeface="Segoe UI" pitchFamily="34" charset="0"/>
                <a:ea typeface="Segoe UI" pitchFamily="34" charset="-122"/>
                <a:cs typeface="Segoe UI" pitchFamily="34" charset="-120"/>
              </a:rPr>
              <a:t>Alert delivery is best effort and cannot change the checkout response.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03 / REPORTING</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12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Azure SQL reporting path</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Logstash copies events to Azure SQL through an authenticated Function.</a:t>
            </a:r>
            <a:endParaRPr lang="en-US" sz="1700" dirty="0"/>
          </a:p>
        </p:txBody>
      </p:sp>
      <p:pic>
        <p:nvPicPr>
          <p:cNvPr id="9" name="Image 0" descr="/mnt/c/Users/Saud/Documents/ChatGPT/SDA/presentation/assets/azure/virtual-machine.png">    </p:cNvPr>
          <p:cNvPicPr>
            <a:picLocks noChangeAspect="1"/>
          </p:cNvPicPr>
          <p:nvPr/>
        </p:nvPicPr>
        <p:blipFill>
          <a:blip r:embed="rId1"/>
          <a:stretch>
            <a:fillRect/>
          </a:stretch>
        </p:blipFill>
        <p:spPr>
          <a:xfrm>
            <a:off x="832104" y="2377440"/>
            <a:ext cx="786384" cy="786384"/>
          </a:xfrm>
          <a:prstGeom prst="rect">
            <a:avLst/>
          </a:prstGeom>
        </p:spPr>
      </p:pic>
      <p:pic>
        <p:nvPicPr>
          <p:cNvPr id="10" name="Image 1" descr="/mnt/c/Users/Saud/Documents/ChatGPT/SDA/presentation/assets/azure/functions.png">    </p:cNvPr>
          <p:cNvPicPr>
            <a:picLocks noChangeAspect="1"/>
          </p:cNvPicPr>
          <p:nvPr/>
        </p:nvPicPr>
        <p:blipFill>
          <a:blip r:embed="rId2"/>
          <a:stretch>
            <a:fillRect/>
          </a:stretch>
        </p:blipFill>
        <p:spPr>
          <a:xfrm>
            <a:off x="4087368" y="2377440"/>
            <a:ext cx="786384" cy="786384"/>
          </a:xfrm>
          <a:prstGeom prst="rect">
            <a:avLst/>
          </a:prstGeom>
        </p:spPr>
      </p:pic>
      <p:pic>
        <p:nvPicPr>
          <p:cNvPr id="11" name="Image 2" descr="/mnt/c/Users/Saud/Documents/ChatGPT/SDA/presentation/assets/azure/sql-database.png">    </p:cNvPr>
          <p:cNvPicPr>
            <a:picLocks noChangeAspect="1"/>
          </p:cNvPicPr>
          <p:nvPr/>
        </p:nvPicPr>
        <p:blipFill>
          <a:blip r:embed="rId3"/>
          <a:stretch>
            <a:fillRect/>
          </a:stretch>
        </p:blipFill>
        <p:spPr>
          <a:xfrm>
            <a:off x="7772400" y="2377440"/>
            <a:ext cx="786384" cy="786384"/>
          </a:xfrm>
          <a:prstGeom prst="rect">
            <a:avLst/>
          </a:prstGeom>
        </p:spPr>
      </p:pic>
      <p:sp>
        <p:nvSpPr>
          <p:cNvPr id="12" name="Text 7"/>
          <p:cNvSpPr/>
          <p:nvPr/>
        </p:nvSpPr>
        <p:spPr>
          <a:xfrm>
            <a:off x="1783080" y="2578608"/>
            <a:ext cx="1389888" cy="301752"/>
          </a:xfrm>
          <a:prstGeom prst="rect">
            <a:avLst/>
          </a:prstGeom>
          <a:noFill/>
          <a:ln/>
        </p:spPr>
        <p:txBody>
          <a:bodyPr wrap="square" lIns="0" tIns="0" rIns="0" bIns="0" rtlCol="0" anchor="ctr">
            <a:normAutofit/>
          </a:bodyPr>
          <a:lstStyle/>
          <a:p>
            <a:pPr indent="0" marL="0">
              <a:buNone/>
            </a:pPr>
            <a:r>
              <a:rPr lang="en-US" sz="1800" b="1" dirty="0">
                <a:solidFill>
                  <a:srgbClr val="103624"/>
                </a:solidFill>
                <a:latin typeface="Segoe UI" pitchFamily="34" charset="0"/>
                <a:ea typeface="Segoe UI" pitchFamily="34" charset="-122"/>
                <a:cs typeface="Segoe UI" pitchFamily="34" charset="-120"/>
              </a:rPr>
              <a:t>LOGSTASH</a:t>
            </a:r>
            <a:endParaRPr lang="en-US" sz="1800" dirty="0"/>
          </a:p>
        </p:txBody>
      </p:sp>
      <p:sp>
        <p:nvSpPr>
          <p:cNvPr id="13" name="Text 8"/>
          <p:cNvSpPr/>
          <p:nvPr/>
        </p:nvSpPr>
        <p:spPr>
          <a:xfrm>
            <a:off x="5010912" y="2569464"/>
            <a:ext cx="2103120" cy="320040"/>
          </a:xfrm>
          <a:prstGeom prst="rect">
            <a:avLst/>
          </a:prstGeom>
          <a:noFill/>
          <a:ln/>
        </p:spPr>
        <p:txBody>
          <a:bodyPr wrap="square" lIns="0" tIns="0" rIns="0" bIns="0" rtlCol="0" anchor="ctr">
            <a:normAutofit/>
          </a:bodyPr>
          <a:lstStyle/>
          <a:p>
            <a:pPr indent="0" marL="0">
              <a:buNone/>
            </a:pPr>
            <a:r>
              <a:rPr lang="en-US" sz="1600" b="1" dirty="0">
                <a:solidFill>
                  <a:srgbClr val="103624"/>
                </a:solidFill>
                <a:latin typeface="Segoe UI" pitchFamily="34" charset="0"/>
                <a:ea typeface="Segoe UI" pitchFamily="34" charset="-122"/>
                <a:cs typeface="Segoe UI" pitchFamily="34" charset="-120"/>
              </a:rPr>
              <a:t>REPORTING FUNCTION</a:t>
            </a:r>
            <a:endParaRPr lang="en-US" sz="1600" dirty="0"/>
          </a:p>
        </p:txBody>
      </p:sp>
      <p:sp>
        <p:nvSpPr>
          <p:cNvPr id="14" name="Text 9"/>
          <p:cNvSpPr/>
          <p:nvPr/>
        </p:nvSpPr>
        <p:spPr>
          <a:xfrm>
            <a:off x="8677656" y="2578608"/>
            <a:ext cx="1837944" cy="301752"/>
          </a:xfrm>
          <a:prstGeom prst="rect">
            <a:avLst/>
          </a:prstGeom>
          <a:noFill/>
          <a:ln/>
        </p:spPr>
        <p:txBody>
          <a:bodyPr wrap="square" lIns="0" tIns="0" rIns="0" bIns="0" rtlCol="0" anchor="ctr">
            <a:normAutofit/>
          </a:bodyPr>
          <a:lstStyle/>
          <a:p>
            <a:pPr indent="0" marL="0">
              <a:buNone/>
            </a:pPr>
            <a:r>
              <a:rPr lang="en-US" sz="1800" b="1" dirty="0">
                <a:solidFill>
                  <a:srgbClr val="103624"/>
                </a:solidFill>
                <a:latin typeface="Segoe UI" pitchFamily="34" charset="0"/>
                <a:ea typeface="Segoe UI" pitchFamily="34" charset="-122"/>
                <a:cs typeface="Segoe UI" pitchFamily="34" charset="-120"/>
              </a:rPr>
              <a:t>AZURE SQL</a:t>
            </a:r>
            <a:endParaRPr lang="en-US" sz="1800" dirty="0"/>
          </a:p>
        </p:txBody>
      </p:sp>
      <p:sp>
        <p:nvSpPr>
          <p:cNvPr id="15" name="Text 10"/>
          <p:cNvSpPr/>
          <p:nvPr/>
        </p:nvSpPr>
        <p:spPr>
          <a:xfrm>
            <a:off x="3346704" y="2532888"/>
            <a:ext cx="393192" cy="338328"/>
          </a:xfrm>
          <a:prstGeom prst="rect">
            <a:avLst/>
          </a:prstGeom>
          <a:noFill/>
          <a:ln/>
        </p:spPr>
        <p:txBody>
          <a:bodyPr wrap="square" lIns="0" tIns="0" rIns="0" bIns="0" rtlCol="0" anchor="ctr">
            <a:normAutofit/>
          </a:bodyPr>
          <a:lstStyle/>
          <a:p>
            <a:pPr indent="0" marL="0">
              <a:buNone/>
            </a:pPr>
            <a:r>
              <a:rPr lang="en-US" sz="2700" b="1" dirty="0">
                <a:solidFill>
                  <a:srgbClr val="0C6843"/>
                </a:solidFill>
                <a:latin typeface="Segoe UI" pitchFamily="34" charset="0"/>
                <a:ea typeface="Segoe UI" pitchFamily="34" charset="-122"/>
                <a:cs typeface="Segoe UI" pitchFamily="34" charset="-120"/>
              </a:rPr>
              <a:t>→</a:t>
            </a:r>
            <a:endParaRPr lang="en-US" sz="2700" dirty="0"/>
          </a:p>
        </p:txBody>
      </p:sp>
      <p:sp>
        <p:nvSpPr>
          <p:cNvPr id="16" name="Text 11"/>
          <p:cNvSpPr/>
          <p:nvPr/>
        </p:nvSpPr>
        <p:spPr>
          <a:xfrm>
            <a:off x="7178040" y="2532888"/>
            <a:ext cx="393192" cy="338328"/>
          </a:xfrm>
          <a:prstGeom prst="rect">
            <a:avLst/>
          </a:prstGeom>
          <a:noFill/>
          <a:ln/>
        </p:spPr>
        <p:txBody>
          <a:bodyPr wrap="square" lIns="0" tIns="0" rIns="0" bIns="0" rtlCol="0" anchor="ctr">
            <a:normAutofit/>
          </a:bodyPr>
          <a:lstStyle/>
          <a:p>
            <a:pPr indent="0" marL="0">
              <a:buNone/>
            </a:pPr>
            <a:r>
              <a:rPr lang="en-US" sz="2700" b="1" dirty="0">
                <a:solidFill>
                  <a:srgbClr val="0C6843"/>
                </a:solidFill>
                <a:latin typeface="Segoe UI" pitchFamily="34" charset="0"/>
                <a:ea typeface="Segoe UI" pitchFamily="34" charset="-122"/>
                <a:cs typeface="Segoe UI" pitchFamily="34" charset="-120"/>
              </a:rPr>
              <a:t>→</a:t>
            </a:r>
            <a:endParaRPr lang="en-US" sz="2700" dirty="0"/>
          </a:p>
        </p:txBody>
      </p:sp>
      <p:sp>
        <p:nvSpPr>
          <p:cNvPr id="17" name="Shape 12"/>
          <p:cNvSpPr/>
          <p:nvPr/>
        </p:nvSpPr>
        <p:spPr>
          <a:xfrm>
            <a:off x="649224" y="3721608"/>
            <a:ext cx="10835640" cy="1435608"/>
          </a:xfrm>
          <a:prstGeom prst="roundRect">
            <a:avLst>
              <a:gd name="adj" fmla="val 7643"/>
            </a:avLst>
          </a:prstGeom>
          <a:solidFill>
            <a:srgbClr val="F7FCF4"/>
          </a:solidFill>
          <a:ln w="13970">
            <a:solidFill>
              <a:srgbClr val="76A987"/>
            </a:solidFill>
            <a:prstDash val="solid"/>
          </a:ln>
        </p:spPr>
      </p:sp>
      <p:sp>
        <p:nvSpPr>
          <p:cNvPr id="18" name="Shape 13"/>
          <p:cNvSpPr/>
          <p:nvPr/>
        </p:nvSpPr>
        <p:spPr>
          <a:xfrm>
            <a:off x="896112" y="3968496"/>
            <a:ext cx="3236976" cy="310896"/>
          </a:xfrm>
          <a:prstGeom prst="roundRect">
            <a:avLst>
              <a:gd name="adj" fmla="val 23529"/>
            </a:avLst>
          </a:prstGeom>
          <a:solidFill>
            <a:srgbClr val="BBDDC2"/>
          </a:solidFill>
          <a:ln w="12700">
            <a:solidFill>
              <a:srgbClr val="BBDDC2"/>
            </a:solidFill>
            <a:prstDash val="solid"/>
          </a:ln>
        </p:spPr>
      </p:sp>
      <p:sp>
        <p:nvSpPr>
          <p:cNvPr id="19" name="Text 14"/>
          <p:cNvSpPr/>
          <p:nvPr/>
        </p:nvSpPr>
        <p:spPr>
          <a:xfrm>
            <a:off x="1005840" y="3995928"/>
            <a:ext cx="3017520" cy="246888"/>
          </a:xfrm>
          <a:prstGeom prst="rect">
            <a:avLst/>
          </a:prstGeom>
          <a:noFill/>
          <a:ln/>
        </p:spPr>
        <p:txBody>
          <a:bodyPr wrap="square" lIns="0" tIns="0" rIns="0" bIns="0" rtlCol="0" anchor="ctr">
            <a:normAutofit/>
          </a:bodyPr>
          <a:lstStyle/>
          <a:p>
            <a:pPr indent="0" marL="0">
              <a:buNone/>
            </a:pPr>
            <a:r>
              <a:rPr lang="en-US" sz="1000" b="1" spc="110" kern="0" dirty="0">
                <a:solidFill>
                  <a:srgbClr val="0C6843"/>
                </a:solidFill>
                <a:latin typeface="Segoe UI" pitchFamily="34" charset="0"/>
                <a:ea typeface="Segoe UI" pitchFamily="34" charset="-122"/>
                <a:cs typeface="Segoe UI" pitchFamily="34" charset="-120"/>
              </a:rPr>
              <a:t>dbo.PowerBIIncidentEvents</a:t>
            </a:r>
            <a:endParaRPr lang="en-US" sz="1000" dirty="0"/>
          </a:p>
        </p:txBody>
      </p:sp>
      <p:sp>
        <p:nvSpPr>
          <p:cNvPr id="20" name="Text 15"/>
          <p:cNvSpPr/>
          <p:nvPr/>
        </p:nvSpPr>
        <p:spPr>
          <a:xfrm>
            <a:off x="923544" y="4526280"/>
            <a:ext cx="10149840" cy="310896"/>
          </a:xfrm>
          <a:prstGeom prst="rect">
            <a:avLst/>
          </a:prstGeom>
          <a:noFill/>
          <a:ln/>
        </p:spPr>
        <p:txBody>
          <a:bodyPr wrap="square" lIns="0" tIns="0" rIns="0" bIns="0" rtlCol="0" anchor="ctr">
            <a:normAutofit/>
          </a:bodyPr>
          <a:lstStyle/>
          <a:p>
            <a:pPr indent="0" marL="0">
              <a:buNone/>
            </a:pPr>
            <a:r>
              <a:rPr lang="en-US" sz="1600" dirty="0">
                <a:solidFill>
                  <a:srgbClr val="315842"/>
                </a:solidFill>
                <a:latin typeface="Consolas" pitchFamily="34" charset="0"/>
                <a:ea typeface="Consolas" pitchFamily="34" charset="-122"/>
                <a:cs typeface="Consolas" pitchFamily="34" charset="-120"/>
              </a:rPr>
              <a:t>Timestamp   Order ID   Trace ID   Action   Outcome   Severity   Source</a:t>
            </a:r>
            <a:endParaRPr lang="en-US" sz="1600" dirty="0"/>
          </a:p>
        </p:txBody>
      </p:sp>
      <p:sp>
        <p:nvSpPr>
          <p:cNvPr id="21" name="Shape 16"/>
          <p:cNvSpPr/>
          <p:nvPr/>
        </p:nvSpPr>
        <p:spPr>
          <a:xfrm>
            <a:off x="649224" y="5577840"/>
            <a:ext cx="10835640" cy="448056"/>
          </a:xfrm>
          <a:prstGeom prst="roundRect">
            <a:avLst>
              <a:gd name="adj" fmla="val 24490"/>
            </a:avLst>
          </a:prstGeom>
          <a:solidFill>
            <a:srgbClr val="BBDDC2"/>
          </a:solidFill>
          <a:ln w="12700">
            <a:solidFill>
              <a:srgbClr val="BBDDC2"/>
            </a:solidFill>
            <a:prstDash val="solid"/>
          </a:ln>
        </p:spPr>
      </p:sp>
      <p:sp>
        <p:nvSpPr>
          <p:cNvPr id="22" name="Text 17"/>
          <p:cNvSpPr/>
          <p:nvPr/>
        </p:nvSpPr>
        <p:spPr>
          <a:xfrm>
            <a:off x="868680" y="5678424"/>
            <a:ext cx="10405872" cy="246888"/>
          </a:xfrm>
          <a:prstGeom prst="rect">
            <a:avLst/>
          </a:prstGeom>
          <a:noFill/>
          <a:ln/>
        </p:spPr>
        <p:txBody>
          <a:bodyPr wrap="square" lIns="0" tIns="0" rIns="0" bIns="0" rtlCol="0" anchor="ctr">
            <a:normAutofit/>
          </a:bodyPr>
          <a:lstStyle/>
          <a:p>
            <a:pPr indent="0" marL="0">
              <a:buNone/>
            </a:pPr>
            <a:r>
              <a:rPr lang="en-US" sz="1500" b="1" dirty="0">
                <a:solidFill>
                  <a:srgbClr val="103624"/>
                </a:solidFill>
                <a:latin typeface="Segoe UI" pitchFamily="34" charset="0"/>
                <a:ea typeface="Segoe UI" pitchFamily="34" charset="-122"/>
                <a:cs typeface="Segoe UI" pitchFamily="34" charset="-120"/>
              </a:rPr>
              <a:t>Status: SQL path verified  •  Power BI report not yet authored or published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04 / AZURE OPERATIONS</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13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Access and operating schedule</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Caddy serves HTTPS. Key Vault holds secrets. Logic Apps starts the VM each morning.</a:t>
            </a:r>
            <a:endParaRPr lang="en-US" sz="1700" dirty="0"/>
          </a:p>
        </p:txBody>
      </p:sp>
      <p:sp>
        <p:nvSpPr>
          <p:cNvPr id="9" name="Shape 7"/>
          <p:cNvSpPr/>
          <p:nvPr/>
        </p:nvSpPr>
        <p:spPr>
          <a:xfrm>
            <a:off x="621792" y="2011680"/>
            <a:ext cx="5285232" cy="1380744"/>
          </a:xfrm>
          <a:prstGeom prst="roundRect">
            <a:avLst>
              <a:gd name="adj" fmla="val 7947"/>
            </a:avLst>
          </a:prstGeom>
          <a:solidFill>
            <a:srgbClr val="F7FCF4"/>
          </a:solidFill>
          <a:ln w="13970">
            <a:solidFill>
              <a:srgbClr val="76A987"/>
            </a:solidFill>
            <a:prstDash val="solid"/>
          </a:ln>
        </p:spPr>
      </p:sp>
      <p:pic>
        <p:nvPicPr>
          <p:cNvPr id="10" name="Image 0" descr="/mnt/c/Users/Saud/Documents/ChatGPT/SDA/presentation/assets/azure/network-security.png">    </p:cNvPr>
          <p:cNvPicPr>
            <a:picLocks noChangeAspect="1"/>
          </p:cNvPicPr>
          <p:nvPr/>
        </p:nvPicPr>
        <p:blipFill>
          <a:blip r:embed="rId1"/>
          <a:stretch>
            <a:fillRect/>
          </a:stretch>
        </p:blipFill>
        <p:spPr>
          <a:xfrm>
            <a:off x="850392" y="2368296"/>
            <a:ext cx="667512" cy="667512"/>
          </a:xfrm>
          <a:prstGeom prst="rect">
            <a:avLst/>
          </a:prstGeom>
        </p:spPr>
      </p:pic>
      <p:sp>
        <p:nvSpPr>
          <p:cNvPr id="11" name="Text 8"/>
          <p:cNvSpPr/>
          <p:nvPr/>
        </p:nvSpPr>
        <p:spPr>
          <a:xfrm>
            <a:off x="1719072" y="2231136"/>
            <a:ext cx="3840480" cy="384048"/>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Access</a:t>
            </a:r>
            <a:endParaRPr lang="en-US" sz="2000" dirty="0"/>
          </a:p>
        </p:txBody>
      </p:sp>
      <p:sp>
        <p:nvSpPr>
          <p:cNvPr id="12" name="Text 9"/>
          <p:cNvSpPr/>
          <p:nvPr/>
        </p:nvSpPr>
        <p:spPr>
          <a:xfrm>
            <a:off x="1719072" y="2706624"/>
            <a:ext cx="3822192" cy="502920"/>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HTTPS entry; private Elasticsearch and Logstash ports</a:t>
            </a:r>
            <a:endParaRPr lang="en-US" sz="1400" dirty="0"/>
          </a:p>
        </p:txBody>
      </p:sp>
      <p:sp>
        <p:nvSpPr>
          <p:cNvPr id="13" name="Shape 10"/>
          <p:cNvSpPr/>
          <p:nvPr/>
        </p:nvSpPr>
        <p:spPr>
          <a:xfrm>
            <a:off x="6135624" y="2011680"/>
            <a:ext cx="5285232" cy="1380744"/>
          </a:xfrm>
          <a:prstGeom prst="roundRect">
            <a:avLst>
              <a:gd name="adj" fmla="val 7947"/>
            </a:avLst>
          </a:prstGeom>
          <a:solidFill>
            <a:srgbClr val="F7FCF4"/>
          </a:solidFill>
          <a:ln w="13970">
            <a:solidFill>
              <a:srgbClr val="76A987"/>
            </a:solidFill>
            <a:prstDash val="solid"/>
          </a:ln>
        </p:spPr>
      </p:sp>
      <p:pic>
        <p:nvPicPr>
          <p:cNvPr id="14" name="Image 1" descr="/mnt/c/Users/Saud/Documents/ChatGPT/SDA/presentation/assets/azure/key-vault.png">    </p:cNvPr>
          <p:cNvPicPr>
            <a:picLocks noChangeAspect="1"/>
          </p:cNvPicPr>
          <p:nvPr/>
        </p:nvPicPr>
        <p:blipFill>
          <a:blip r:embed="rId2"/>
          <a:stretch>
            <a:fillRect/>
          </a:stretch>
        </p:blipFill>
        <p:spPr>
          <a:xfrm>
            <a:off x="6364224" y="2368296"/>
            <a:ext cx="667512" cy="667512"/>
          </a:xfrm>
          <a:prstGeom prst="rect">
            <a:avLst/>
          </a:prstGeom>
        </p:spPr>
      </p:pic>
      <p:sp>
        <p:nvSpPr>
          <p:cNvPr id="15" name="Text 11"/>
          <p:cNvSpPr/>
          <p:nvPr/>
        </p:nvSpPr>
        <p:spPr>
          <a:xfrm>
            <a:off x="7232904" y="2231136"/>
            <a:ext cx="3840480" cy="384048"/>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Secrets</a:t>
            </a:r>
            <a:endParaRPr lang="en-US" sz="2000" dirty="0"/>
          </a:p>
        </p:txBody>
      </p:sp>
      <p:sp>
        <p:nvSpPr>
          <p:cNvPr id="16" name="Text 12"/>
          <p:cNvSpPr/>
          <p:nvPr/>
        </p:nvSpPr>
        <p:spPr>
          <a:xfrm>
            <a:off x="7232904" y="2706624"/>
            <a:ext cx="3822192" cy="502920"/>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Telegram credentials resolved from Key Vault</a:t>
            </a:r>
            <a:endParaRPr lang="en-US" sz="1400" dirty="0"/>
          </a:p>
        </p:txBody>
      </p:sp>
      <p:sp>
        <p:nvSpPr>
          <p:cNvPr id="17" name="Shape 13"/>
          <p:cNvSpPr/>
          <p:nvPr/>
        </p:nvSpPr>
        <p:spPr>
          <a:xfrm>
            <a:off x="621792" y="3611880"/>
            <a:ext cx="5285232" cy="1380744"/>
          </a:xfrm>
          <a:prstGeom prst="roundRect">
            <a:avLst>
              <a:gd name="adj" fmla="val 7947"/>
            </a:avLst>
          </a:prstGeom>
          <a:solidFill>
            <a:srgbClr val="F7FCF4"/>
          </a:solidFill>
          <a:ln w="13970">
            <a:solidFill>
              <a:srgbClr val="76A987"/>
            </a:solidFill>
            <a:prstDash val="solid"/>
          </a:ln>
        </p:spPr>
      </p:sp>
      <p:pic>
        <p:nvPicPr>
          <p:cNvPr id="18" name="Image 2" descr="/mnt/c/Users/Saud/Documents/ChatGPT/SDA/presentation/assets/azure/logic-apps.png">    </p:cNvPr>
          <p:cNvPicPr>
            <a:picLocks noChangeAspect="1"/>
          </p:cNvPicPr>
          <p:nvPr/>
        </p:nvPicPr>
        <p:blipFill>
          <a:blip r:embed="rId3"/>
          <a:stretch>
            <a:fillRect/>
          </a:stretch>
        </p:blipFill>
        <p:spPr>
          <a:xfrm>
            <a:off x="850392" y="3968496"/>
            <a:ext cx="667512" cy="667512"/>
          </a:xfrm>
          <a:prstGeom prst="rect">
            <a:avLst/>
          </a:prstGeom>
        </p:spPr>
      </p:pic>
      <p:sp>
        <p:nvSpPr>
          <p:cNvPr id="19" name="Text 14"/>
          <p:cNvSpPr/>
          <p:nvPr/>
        </p:nvSpPr>
        <p:spPr>
          <a:xfrm>
            <a:off x="1719072" y="3831336"/>
            <a:ext cx="3840480" cy="384048"/>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Schedule</a:t>
            </a:r>
            <a:endParaRPr lang="en-US" sz="2000" dirty="0"/>
          </a:p>
        </p:txBody>
      </p:sp>
      <p:sp>
        <p:nvSpPr>
          <p:cNvPr id="20" name="Text 15"/>
          <p:cNvSpPr/>
          <p:nvPr/>
        </p:nvSpPr>
        <p:spPr>
          <a:xfrm>
            <a:off x="1719072" y="4306824"/>
            <a:ext cx="3822192" cy="502920"/>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Start 09:00; deallocate 23:00 Riyadh time</a:t>
            </a:r>
            <a:endParaRPr lang="en-US" sz="1400" dirty="0"/>
          </a:p>
        </p:txBody>
      </p:sp>
      <p:sp>
        <p:nvSpPr>
          <p:cNvPr id="21" name="Shape 16"/>
          <p:cNvSpPr/>
          <p:nvPr/>
        </p:nvSpPr>
        <p:spPr>
          <a:xfrm>
            <a:off x="6135624" y="3611880"/>
            <a:ext cx="5285232" cy="1380744"/>
          </a:xfrm>
          <a:prstGeom prst="roundRect">
            <a:avLst>
              <a:gd name="adj" fmla="val 7947"/>
            </a:avLst>
          </a:prstGeom>
          <a:solidFill>
            <a:srgbClr val="F7FCF4"/>
          </a:solidFill>
          <a:ln w="13970">
            <a:solidFill>
              <a:srgbClr val="76A987"/>
            </a:solidFill>
            <a:prstDash val="solid"/>
          </a:ln>
        </p:spPr>
      </p:sp>
      <p:pic>
        <p:nvPicPr>
          <p:cNvPr id="22" name="Image 3" descr="/mnt/c/Users/Saud/Documents/ChatGPT/SDA/presentation/assets/azure/storage.png">    </p:cNvPr>
          <p:cNvPicPr>
            <a:picLocks noChangeAspect="1"/>
          </p:cNvPicPr>
          <p:nvPr/>
        </p:nvPicPr>
        <p:blipFill>
          <a:blip r:embed="rId4"/>
          <a:stretch>
            <a:fillRect/>
          </a:stretch>
        </p:blipFill>
        <p:spPr>
          <a:xfrm>
            <a:off x="6364224" y="3968496"/>
            <a:ext cx="667512" cy="667512"/>
          </a:xfrm>
          <a:prstGeom prst="rect">
            <a:avLst/>
          </a:prstGeom>
        </p:spPr>
      </p:pic>
      <p:sp>
        <p:nvSpPr>
          <p:cNvPr id="23" name="Text 17"/>
          <p:cNvSpPr/>
          <p:nvPr/>
        </p:nvSpPr>
        <p:spPr>
          <a:xfrm>
            <a:off x="7232904" y="3831336"/>
            <a:ext cx="3840480" cy="384048"/>
          </a:xfrm>
          <a:prstGeom prst="rect">
            <a:avLst/>
          </a:prstGeom>
          <a:noFill/>
          <a:ln/>
        </p:spPr>
        <p:txBody>
          <a:bodyPr wrap="square" lIns="0" tIns="0" rIns="0" bIns="0" rtlCol="0" anchor="ctr">
            <a:normAutofit/>
          </a:bodyPr>
          <a:lstStyle/>
          <a:p>
            <a:pPr indent="0" marL="0">
              <a:buNone/>
            </a:pPr>
            <a:r>
              <a:rPr lang="en-US" sz="2000" b="1" dirty="0">
                <a:solidFill>
                  <a:srgbClr val="103624"/>
                </a:solidFill>
                <a:latin typeface="Segoe UI" pitchFamily="34" charset="0"/>
                <a:ea typeface="Segoe UI" pitchFamily="34" charset="-122"/>
                <a:cs typeface="Segoe UI" pitchFamily="34" charset="-120"/>
              </a:rPr>
              <a:t>State</a:t>
            </a:r>
            <a:endParaRPr lang="en-US" sz="2000" dirty="0"/>
          </a:p>
        </p:txBody>
      </p:sp>
      <p:sp>
        <p:nvSpPr>
          <p:cNvPr id="24" name="Text 18"/>
          <p:cNvSpPr/>
          <p:nvPr/>
        </p:nvSpPr>
        <p:spPr>
          <a:xfrm>
            <a:off x="7232904" y="4306824"/>
            <a:ext cx="3822192" cy="502920"/>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Terraform state in a separate Azure storage account</a:t>
            </a:r>
            <a:endParaRPr lang="en-US" sz="1400" dirty="0"/>
          </a:p>
        </p:txBody>
      </p:sp>
      <p:sp>
        <p:nvSpPr>
          <p:cNvPr id="25" name="Text 19"/>
          <p:cNvSpPr/>
          <p:nvPr/>
        </p:nvSpPr>
        <p:spPr>
          <a:xfrm>
            <a:off x="640080" y="5769864"/>
            <a:ext cx="10835640" cy="374904"/>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Scope: one VM runs the ELK stack. Production availability work remains.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4EAD7"/>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73D2B"/>
          </a:solidFill>
          <a:ln w="12700">
            <a:solidFill>
              <a:srgbClr val="073D2B"/>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0C6843"/>
                </a:solidFill>
                <a:latin typeface="Segoe UI" pitchFamily="34" charset="0"/>
                <a:ea typeface="Segoe UI" pitchFamily="34" charset="-122"/>
                <a:cs typeface="Segoe UI" pitchFamily="34" charset="-120"/>
              </a:rPr>
              <a:t>04 / PROOF IN AZURE</a:t>
            </a:r>
            <a:endParaRPr lang="en-US" sz="1000" dirty="0"/>
          </a:p>
        </p:txBody>
      </p:sp>
      <p:sp>
        <p:nvSpPr>
          <p:cNvPr id="4" name="Shape 2"/>
          <p:cNvSpPr/>
          <p:nvPr/>
        </p:nvSpPr>
        <p:spPr>
          <a:xfrm>
            <a:off x="576072" y="6473952"/>
            <a:ext cx="11036808" cy="0"/>
          </a:xfrm>
          <a:prstGeom prst="line">
            <a:avLst/>
          </a:prstGeom>
          <a:noFill/>
          <a:ln w="10160">
            <a:solidFill>
              <a:srgbClr val="76A987"/>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315842"/>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315842"/>
                </a:solidFill>
                <a:latin typeface="Segoe UI" pitchFamily="34" charset="0"/>
                <a:ea typeface="Segoe UI" pitchFamily="34" charset="-122"/>
                <a:cs typeface="Segoe UI" pitchFamily="34" charset="-120"/>
              </a:rPr>
              <a:t>14 / 15</a:t>
            </a:r>
            <a:endParaRPr lang="en-US" sz="900" dirty="0"/>
          </a:p>
        </p:txBody>
      </p:sp>
      <p:sp>
        <p:nvSpPr>
          <p:cNvPr id="7" name="Text 5"/>
          <p:cNvSpPr/>
          <p:nvPr/>
        </p:nvSpPr>
        <p:spPr>
          <a:xfrm>
            <a:off x="576072" y="758952"/>
            <a:ext cx="11018520" cy="658368"/>
          </a:xfrm>
          <a:prstGeom prst="rect">
            <a:avLst/>
          </a:prstGeom>
          <a:noFill/>
          <a:ln/>
        </p:spPr>
        <p:txBody>
          <a:bodyPr wrap="square" lIns="0" tIns="0" rIns="0" bIns="0" rtlCol="0" anchor="ctr">
            <a:normAutofit/>
          </a:bodyPr>
          <a:lstStyle/>
          <a:p>
            <a:pPr indent="0" marL="0">
              <a:buNone/>
            </a:pPr>
            <a:r>
              <a:rPr lang="en-US" sz="3100" b="1" dirty="0">
                <a:solidFill>
                  <a:srgbClr val="103624"/>
                </a:solidFill>
                <a:latin typeface="Bahnschrift" pitchFamily="34" charset="0"/>
                <a:ea typeface="Bahnschrift" pitchFamily="34" charset="-122"/>
                <a:cs typeface="Bahnschrift" pitchFamily="34" charset="-120"/>
              </a:rPr>
              <a:t>Azure deployment checks</a:t>
            </a:r>
            <a:endParaRPr lang="en-US" sz="3100" dirty="0"/>
          </a:p>
        </p:txBody>
      </p:sp>
      <p:sp>
        <p:nvSpPr>
          <p:cNvPr id="8" name="Text 6"/>
          <p:cNvSpPr/>
          <p:nvPr/>
        </p:nvSpPr>
        <p:spPr>
          <a:xfrm>
            <a:off x="594360" y="1408176"/>
            <a:ext cx="10881360" cy="384048"/>
          </a:xfrm>
          <a:prstGeom prst="rect">
            <a:avLst/>
          </a:prstGeom>
          <a:noFill/>
          <a:ln/>
        </p:spPr>
        <p:txBody>
          <a:bodyPr wrap="square" lIns="0" tIns="0" rIns="0" bIns="0" rtlCol="0" anchor="ctr">
            <a:normAutofit/>
          </a:bodyPr>
          <a:lstStyle/>
          <a:p>
            <a:pPr indent="0" marL="0">
              <a:buNone/>
            </a:pPr>
            <a:r>
              <a:rPr lang="en-US" sz="1700" dirty="0">
                <a:solidFill>
                  <a:srgbClr val="315842"/>
                </a:solidFill>
                <a:latin typeface="Segoe UI" pitchFamily="34" charset="0"/>
                <a:ea typeface="Segoe UI" pitchFamily="34" charset="-122"/>
                <a:cs typeface="Segoe UI" pitchFamily="34" charset="-120"/>
              </a:rPr>
              <a:t>The deployment record covers API responses, Elasticsearch, Azure SQL, and public access.</a:t>
            </a:r>
            <a:endParaRPr lang="en-US" sz="1700" dirty="0"/>
          </a:p>
        </p:txBody>
      </p:sp>
      <p:sp>
        <p:nvSpPr>
          <p:cNvPr id="9" name="Shape 7"/>
          <p:cNvSpPr/>
          <p:nvPr/>
        </p:nvSpPr>
        <p:spPr>
          <a:xfrm>
            <a:off x="621792" y="2029968"/>
            <a:ext cx="3438144" cy="1362456"/>
          </a:xfrm>
          <a:prstGeom prst="roundRect">
            <a:avLst>
              <a:gd name="adj" fmla="val 8054"/>
            </a:avLst>
          </a:prstGeom>
          <a:solidFill>
            <a:srgbClr val="F7FCF4"/>
          </a:solidFill>
          <a:ln w="13970">
            <a:solidFill>
              <a:srgbClr val="76A987"/>
            </a:solidFill>
            <a:prstDash val="solid"/>
          </a:ln>
        </p:spPr>
      </p:sp>
      <p:sp>
        <p:nvSpPr>
          <p:cNvPr id="10" name="Text 8"/>
          <p:cNvSpPr/>
          <p:nvPr/>
        </p:nvSpPr>
        <p:spPr>
          <a:xfrm>
            <a:off x="832104" y="2240280"/>
            <a:ext cx="2980944" cy="365760"/>
          </a:xfrm>
          <a:prstGeom prst="rect">
            <a:avLst/>
          </a:prstGeom>
          <a:noFill/>
          <a:ln/>
        </p:spPr>
        <p:txBody>
          <a:bodyPr wrap="square" lIns="0" tIns="0" rIns="0" bIns="0" rtlCol="0" anchor="ctr">
            <a:normAutofit/>
          </a:bodyPr>
          <a:lstStyle/>
          <a:p>
            <a:pPr indent="0" marL="0">
              <a:buNone/>
            </a:pPr>
            <a:r>
              <a:rPr lang="en-US" sz="2400" b="1" dirty="0">
                <a:solidFill>
                  <a:srgbClr val="0C6843"/>
                </a:solidFill>
                <a:latin typeface="Segoe UI" pitchFamily="34" charset="0"/>
                <a:ea typeface="Segoe UI" pitchFamily="34" charset="-122"/>
                <a:cs typeface="Segoe UI" pitchFamily="34" charset="-120"/>
              </a:rPr>
              <a:t>TERRAFORM</a:t>
            </a:r>
            <a:endParaRPr lang="en-US" sz="2400" dirty="0"/>
          </a:p>
        </p:txBody>
      </p:sp>
      <p:sp>
        <p:nvSpPr>
          <p:cNvPr id="11" name="Text 9"/>
          <p:cNvSpPr/>
          <p:nvPr/>
        </p:nvSpPr>
        <p:spPr>
          <a:xfrm>
            <a:off x="832104" y="2761488"/>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Azure workload provisioned</a:t>
            </a:r>
            <a:endParaRPr lang="en-US" sz="1400" dirty="0"/>
          </a:p>
        </p:txBody>
      </p:sp>
      <p:sp>
        <p:nvSpPr>
          <p:cNvPr id="12" name="Shape 10"/>
          <p:cNvSpPr/>
          <p:nvPr/>
        </p:nvSpPr>
        <p:spPr>
          <a:xfrm>
            <a:off x="4297680" y="2029968"/>
            <a:ext cx="3438144" cy="1362456"/>
          </a:xfrm>
          <a:prstGeom prst="roundRect">
            <a:avLst>
              <a:gd name="adj" fmla="val 8054"/>
            </a:avLst>
          </a:prstGeom>
          <a:solidFill>
            <a:srgbClr val="F7FCF4"/>
          </a:solidFill>
          <a:ln w="13970">
            <a:solidFill>
              <a:srgbClr val="76A987"/>
            </a:solidFill>
            <a:prstDash val="solid"/>
          </a:ln>
        </p:spPr>
      </p:sp>
      <p:sp>
        <p:nvSpPr>
          <p:cNvPr id="13" name="Text 11"/>
          <p:cNvSpPr/>
          <p:nvPr/>
        </p:nvSpPr>
        <p:spPr>
          <a:xfrm>
            <a:off x="4507992" y="2240280"/>
            <a:ext cx="2980944" cy="365760"/>
          </a:xfrm>
          <a:prstGeom prst="rect">
            <a:avLst/>
          </a:prstGeom>
          <a:noFill/>
          <a:ln/>
        </p:spPr>
        <p:txBody>
          <a:bodyPr wrap="square" lIns="0" tIns="0" rIns="0" bIns="0" rtlCol="0" anchor="ctr">
            <a:normAutofit/>
          </a:bodyPr>
          <a:lstStyle/>
          <a:p>
            <a:pPr indent="0" marL="0">
              <a:buNone/>
            </a:pPr>
            <a:r>
              <a:rPr lang="en-US" sz="2400" b="1" dirty="0">
                <a:solidFill>
                  <a:srgbClr val="0C6843"/>
                </a:solidFill>
                <a:latin typeface="Segoe UI" pitchFamily="34" charset="0"/>
                <a:ea typeface="Segoe UI" pitchFamily="34" charset="-122"/>
                <a:cs typeface="Segoe UI" pitchFamily="34" charset="-120"/>
              </a:rPr>
              <a:t>201 / 500</a:t>
            </a:r>
            <a:endParaRPr lang="en-US" sz="2400" dirty="0"/>
          </a:p>
        </p:txBody>
      </p:sp>
      <p:sp>
        <p:nvSpPr>
          <p:cNvPr id="14" name="Text 12"/>
          <p:cNvSpPr/>
          <p:nvPr/>
        </p:nvSpPr>
        <p:spPr>
          <a:xfrm>
            <a:off x="4507992" y="2761488"/>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Normal and Ghost Order responses</a:t>
            </a:r>
            <a:endParaRPr lang="en-US" sz="1400" dirty="0"/>
          </a:p>
        </p:txBody>
      </p:sp>
      <p:sp>
        <p:nvSpPr>
          <p:cNvPr id="15" name="Shape 13"/>
          <p:cNvSpPr/>
          <p:nvPr/>
        </p:nvSpPr>
        <p:spPr>
          <a:xfrm>
            <a:off x="7973568" y="2029968"/>
            <a:ext cx="3438144" cy="1362456"/>
          </a:xfrm>
          <a:prstGeom prst="roundRect">
            <a:avLst>
              <a:gd name="adj" fmla="val 8054"/>
            </a:avLst>
          </a:prstGeom>
          <a:solidFill>
            <a:srgbClr val="F7FCF4"/>
          </a:solidFill>
          <a:ln w="13970">
            <a:solidFill>
              <a:srgbClr val="76A987"/>
            </a:solidFill>
            <a:prstDash val="solid"/>
          </a:ln>
        </p:spPr>
      </p:sp>
      <p:sp>
        <p:nvSpPr>
          <p:cNvPr id="16" name="Text 14"/>
          <p:cNvSpPr/>
          <p:nvPr/>
        </p:nvSpPr>
        <p:spPr>
          <a:xfrm>
            <a:off x="8183880" y="2240280"/>
            <a:ext cx="2980944" cy="365760"/>
          </a:xfrm>
          <a:prstGeom prst="rect">
            <a:avLst/>
          </a:prstGeom>
          <a:noFill/>
          <a:ln/>
        </p:spPr>
        <p:txBody>
          <a:bodyPr wrap="square" lIns="0" tIns="0" rIns="0" bIns="0" rtlCol="0" anchor="ctr">
            <a:normAutofit/>
          </a:bodyPr>
          <a:lstStyle/>
          <a:p>
            <a:pPr indent="0" marL="0">
              <a:buNone/>
            </a:pPr>
            <a:r>
              <a:rPr lang="en-US" sz="2400" b="1" dirty="0">
                <a:solidFill>
                  <a:srgbClr val="0C6843"/>
                </a:solidFill>
                <a:latin typeface="Segoe UI" pitchFamily="34" charset="0"/>
                <a:ea typeface="Segoe UI" pitchFamily="34" charset="-122"/>
                <a:cs typeface="Segoe UI" pitchFamily="34" charset="-120"/>
              </a:rPr>
              <a:t>ELK</a:t>
            </a:r>
            <a:endParaRPr lang="en-US" sz="2400" dirty="0"/>
          </a:p>
        </p:txBody>
      </p:sp>
      <p:sp>
        <p:nvSpPr>
          <p:cNvPr id="17" name="Text 15"/>
          <p:cNvSpPr/>
          <p:nvPr/>
        </p:nvSpPr>
        <p:spPr>
          <a:xfrm>
            <a:off x="8183880" y="2761488"/>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Correlated app, Linux, and Docker events</a:t>
            </a:r>
            <a:endParaRPr lang="en-US" sz="1400" dirty="0"/>
          </a:p>
        </p:txBody>
      </p:sp>
      <p:sp>
        <p:nvSpPr>
          <p:cNvPr id="18" name="Shape 16"/>
          <p:cNvSpPr/>
          <p:nvPr/>
        </p:nvSpPr>
        <p:spPr>
          <a:xfrm>
            <a:off x="621792" y="3621024"/>
            <a:ext cx="3438144" cy="1362456"/>
          </a:xfrm>
          <a:prstGeom prst="roundRect">
            <a:avLst>
              <a:gd name="adj" fmla="val 8054"/>
            </a:avLst>
          </a:prstGeom>
          <a:solidFill>
            <a:srgbClr val="F7FCF4"/>
          </a:solidFill>
          <a:ln w="13970">
            <a:solidFill>
              <a:srgbClr val="76A987"/>
            </a:solidFill>
            <a:prstDash val="solid"/>
          </a:ln>
        </p:spPr>
      </p:sp>
      <p:sp>
        <p:nvSpPr>
          <p:cNvPr id="19" name="Text 17"/>
          <p:cNvSpPr/>
          <p:nvPr/>
        </p:nvSpPr>
        <p:spPr>
          <a:xfrm>
            <a:off x="832104" y="3831336"/>
            <a:ext cx="2980944" cy="365760"/>
          </a:xfrm>
          <a:prstGeom prst="rect">
            <a:avLst/>
          </a:prstGeom>
          <a:noFill/>
          <a:ln/>
        </p:spPr>
        <p:txBody>
          <a:bodyPr wrap="square" lIns="0" tIns="0" rIns="0" bIns="0" rtlCol="0" anchor="ctr">
            <a:normAutofit/>
          </a:bodyPr>
          <a:lstStyle/>
          <a:p>
            <a:pPr indent="0" marL="0">
              <a:buNone/>
            </a:pPr>
            <a:r>
              <a:rPr lang="en-US" sz="2400" b="1" dirty="0">
                <a:solidFill>
                  <a:srgbClr val="0C6843"/>
                </a:solidFill>
                <a:latin typeface="Segoe UI" pitchFamily="34" charset="0"/>
                <a:ea typeface="Segoe UI" pitchFamily="34" charset="-122"/>
                <a:cs typeface="Segoe UI" pitchFamily="34" charset="-120"/>
              </a:rPr>
              <a:t>4 VIEWS</a:t>
            </a:r>
            <a:endParaRPr lang="en-US" sz="2400" dirty="0"/>
          </a:p>
        </p:txBody>
      </p:sp>
      <p:sp>
        <p:nvSpPr>
          <p:cNvPr id="20" name="Text 18"/>
          <p:cNvSpPr/>
          <p:nvPr/>
        </p:nvSpPr>
        <p:spPr>
          <a:xfrm>
            <a:off x="832104" y="4352544"/>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Operations dashboard imported</a:t>
            </a:r>
            <a:endParaRPr lang="en-US" sz="1400" dirty="0"/>
          </a:p>
        </p:txBody>
      </p:sp>
      <p:sp>
        <p:nvSpPr>
          <p:cNvPr id="21" name="Shape 19"/>
          <p:cNvSpPr/>
          <p:nvPr/>
        </p:nvSpPr>
        <p:spPr>
          <a:xfrm>
            <a:off x="4297680" y="3621024"/>
            <a:ext cx="3438144" cy="1362456"/>
          </a:xfrm>
          <a:prstGeom prst="roundRect">
            <a:avLst>
              <a:gd name="adj" fmla="val 8054"/>
            </a:avLst>
          </a:prstGeom>
          <a:solidFill>
            <a:srgbClr val="F7FCF4"/>
          </a:solidFill>
          <a:ln w="13970">
            <a:solidFill>
              <a:srgbClr val="76A987"/>
            </a:solidFill>
            <a:prstDash val="solid"/>
          </a:ln>
        </p:spPr>
      </p:sp>
      <p:sp>
        <p:nvSpPr>
          <p:cNvPr id="22" name="Text 20"/>
          <p:cNvSpPr/>
          <p:nvPr/>
        </p:nvSpPr>
        <p:spPr>
          <a:xfrm>
            <a:off x="4507992" y="3831336"/>
            <a:ext cx="2980944" cy="365760"/>
          </a:xfrm>
          <a:prstGeom prst="rect">
            <a:avLst/>
          </a:prstGeom>
          <a:noFill/>
          <a:ln/>
        </p:spPr>
        <p:txBody>
          <a:bodyPr wrap="square" lIns="0" tIns="0" rIns="0" bIns="0" rtlCol="0" anchor="ctr">
            <a:normAutofit/>
          </a:bodyPr>
          <a:lstStyle/>
          <a:p>
            <a:pPr indent="0" marL="0">
              <a:buNone/>
            </a:pPr>
            <a:r>
              <a:rPr lang="en-US" sz="2400" b="1" dirty="0">
                <a:solidFill>
                  <a:srgbClr val="0C6843"/>
                </a:solidFill>
                <a:latin typeface="Segoe UI" pitchFamily="34" charset="0"/>
                <a:ea typeface="Segoe UI" pitchFamily="34" charset="-122"/>
                <a:cs typeface="Segoe UI" pitchFamily="34" charset="-120"/>
              </a:rPr>
              <a:t>AZURE SQL</a:t>
            </a:r>
            <a:endParaRPr lang="en-US" sz="2400" dirty="0"/>
          </a:p>
        </p:txBody>
      </p:sp>
      <p:sp>
        <p:nvSpPr>
          <p:cNvPr id="23" name="Text 21"/>
          <p:cNvSpPr/>
          <p:nvPr/>
        </p:nvSpPr>
        <p:spPr>
          <a:xfrm>
            <a:off x="4507992" y="4352544"/>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Unique event read back from SQL</a:t>
            </a:r>
            <a:endParaRPr lang="en-US" sz="1400" dirty="0"/>
          </a:p>
        </p:txBody>
      </p:sp>
      <p:sp>
        <p:nvSpPr>
          <p:cNvPr id="24" name="Shape 22"/>
          <p:cNvSpPr/>
          <p:nvPr/>
        </p:nvSpPr>
        <p:spPr>
          <a:xfrm>
            <a:off x="7973568" y="3621024"/>
            <a:ext cx="3438144" cy="1362456"/>
          </a:xfrm>
          <a:prstGeom prst="roundRect">
            <a:avLst>
              <a:gd name="adj" fmla="val 8054"/>
            </a:avLst>
          </a:prstGeom>
          <a:solidFill>
            <a:srgbClr val="F7FCF4"/>
          </a:solidFill>
          <a:ln w="13970">
            <a:solidFill>
              <a:srgbClr val="76A987"/>
            </a:solidFill>
            <a:prstDash val="solid"/>
          </a:ln>
        </p:spPr>
      </p:sp>
      <p:sp>
        <p:nvSpPr>
          <p:cNvPr id="25" name="Text 23"/>
          <p:cNvSpPr/>
          <p:nvPr/>
        </p:nvSpPr>
        <p:spPr>
          <a:xfrm>
            <a:off x="8183880" y="3831336"/>
            <a:ext cx="2980944" cy="365760"/>
          </a:xfrm>
          <a:prstGeom prst="rect">
            <a:avLst/>
          </a:prstGeom>
          <a:noFill/>
          <a:ln/>
        </p:spPr>
        <p:txBody>
          <a:bodyPr wrap="square" lIns="0" tIns="0" rIns="0" bIns="0" rtlCol="0" anchor="ctr">
            <a:normAutofit/>
          </a:bodyPr>
          <a:lstStyle/>
          <a:p>
            <a:pPr indent="0" marL="0">
              <a:buNone/>
            </a:pPr>
            <a:r>
              <a:rPr lang="en-US" sz="2400" b="1" dirty="0">
                <a:solidFill>
                  <a:srgbClr val="A94332"/>
                </a:solidFill>
                <a:latin typeface="Segoe UI" pitchFamily="34" charset="0"/>
                <a:ea typeface="Segoe UI" pitchFamily="34" charset="-122"/>
                <a:cs typeface="Segoe UI" pitchFamily="34" charset="-120"/>
              </a:rPr>
              <a:t>PENDING</a:t>
            </a:r>
            <a:endParaRPr lang="en-US" sz="2400" dirty="0"/>
          </a:p>
        </p:txBody>
      </p:sp>
      <p:sp>
        <p:nvSpPr>
          <p:cNvPr id="26" name="Text 24"/>
          <p:cNvSpPr/>
          <p:nvPr/>
        </p:nvSpPr>
        <p:spPr>
          <a:xfrm>
            <a:off x="8183880" y="4352544"/>
            <a:ext cx="3017520" cy="475488"/>
          </a:xfrm>
          <a:prstGeom prst="rect">
            <a:avLst/>
          </a:prstGeom>
          <a:noFill/>
          <a:ln/>
        </p:spPr>
        <p:txBody>
          <a:bodyPr wrap="square" lIns="0" tIns="0" rIns="0" bIns="0" rtlCol="0" anchor="ctr">
            <a:normAutofit/>
          </a:bodyPr>
          <a:lstStyle/>
          <a:p>
            <a:pPr indent="0" marL="0">
              <a:buNone/>
            </a:pPr>
            <a:r>
              <a:rPr lang="en-US" sz="1400" dirty="0">
                <a:solidFill>
                  <a:srgbClr val="315842"/>
                </a:solidFill>
                <a:latin typeface="Segoe UI" pitchFamily="34" charset="0"/>
                <a:ea typeface="Segoe UI" pitchFamily="34" charset="-122"/>
                <a:cs typeface="Segoe UI" pitchFamily="34" charset="-120"/>
              </a:rPr>
              <a:t>Full destroy-and-rebuild rehearsal</a:t>
            </a:r>
            <a:endParaRPr lang="en-US" sz="1400" dirty="0"/>
          </a:p>
        </p:txBody>
      </p:sp>
      <p:sp>
        <p:nvSpPr>
          <p:cNvPr id="27" name="Shape 25"/>
          <p:cNvSpPr/>
          <p:nvPr/>
        </p:nvSpPr>
        <p:spPr>
          <a:xfrm>
            <a:off x="640080" y="5541264"/>
            <a:ext cx="10835640" cy="448056"/>
          </a:xfrm>
          <a:prstGeom prst="roundRect">
            <a:avLst>
              <a:gd name="adj" fmla="val 24490"/>
            </a:avLst>
          </a:prstGeom>
          <a:solidFill>
            <a:srgbClr val="073D2B"/>
          </a:solidFill>
          <a:ln w="12700">
            <a:solidFill>
              <a:srgbClr val="073D2B"/>
            </a:solidFill>
            <a:prstDash val="solid"/>
          </a:ln>
        </p:spPr>
      </p:sp>
      <p:sp>
        <p:nvSpPr>
          <p:cNvPr id="28" name="Text 26"/>
          <p:cNvSpPr/>
          <p:nvPr/>
        </p:nvSpPr>
        <p:spPr>
          <a:xfrm>
            <a:off x="886968" y="5641848"/>
            <a:ext cx="10332720" cy="246888"/>
          </a:xfrm>
          <a:prstGeom prst="rect">
            <a:avLst/>
          </a:prstGeom>
          <a:noFill/>
          <a:ln/>
        </p:spPr>
        <p:txBody>
          <a:bodyPr wrap="square" lIns="0" tIns="0" rIns="0" bIns="0" rtlCol="0" anchor="ctr">
            <a:normAutofit/>
          </a:bodyPr>
          <a:lstStyle/>
          <a:p>
            <a:pPr algn="ctr" indent="0" marL="0">
              <a:buNone/>
            </a:pPr>
            <a:r>
              <a:rPr lang="en-US" sz="1400" b="1" dirty="0">
                <a:solidFill>
                  <a:srgbClr val="F7FCF4"/>
                </a:solidFill>
                <a:latin typeface="Segoe UI" pitchFamily="34" charset="0"/>
                <a:ea typeface="Segoe UI" pitchFamily="34" charset="-122"/>
                <a:cs typeface="Segoe UI" pitchFamily="34" charset="-120"/>
              </a:rPr>
              <a:t>Proposal gates met in Azure except the clean rebuild rehearsal. Power BI report remains open.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3D2B"/>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4DCC0"/>
          </a:solidFill>
          <a:ln w="12700">
            <a:solidFill>
              <a:srgbClr val="B4DCC0"/>
            </a:solidFill>
            <a:prstDash val="solid"/>
          </a:ln>
        </p:spPr>
      </p:sp>
      <p:sp>
        <p:nvSpPr>
          <p:cNvPr id="3" name="Text 1"/>
          <p:cNvSpPr/>
          <p:nvPr/>
        </p:nvSpPr>
        <p:spPr>
          <a:xfrm>
            <a:off x="576072" y="274320"/>
            <a:ext cx="7315200" cy="228600"/>
          </a:xfrm>
          <a:prstGeom prst="rect">
            <a:avLst/>
          </a:prstGeom>
          <a:noFill/>
          <a:ln/>
        </p:spPr>
        <p:txBody>
          <a:bodyPr wrap="square" lIns="0" tIns="0" rIns="0" bIns="0" rtlCol="0" anchor="ctr">
            <a:normAutofit/>
          </a:bodyPr>
          <a:lstStyle/>
          <a:p>
            <a:pPr indent="0" marL="0">
              <a:buNone/>
            </a:pPr>
            <a:r>
              <a:rPr lang="en-US" sz="1000" b="1" spc="155" kern="0" dirty="0">
                <a:solidFill>
                  <a:srgbClr val="B4DCC0"/>
                </a:solidFill>
                <a:latin typeface="Segoe UI" pitchFamily="34" charset="0"/>
                <a:ea typeface="Segoe UI" pitchFamily="34" charset="-122"/>
                <a:cs typeface="Segoe UI" pitchFamily="34" charset="-120"/>
              </a:rPr>
              <a:t>RESULT</a:t>
            </a:r>
            <a:endParaRPr lang="en-US" sz="1000" dirty="0"/>
          </a:p>
        </p:txBody>
      </p:sp>
      <p:sp>
        <p:nvSpPr>
          <p:cNvPr id="4" name="Shape 2"/>
          <p:cNvSpPr/>
          <p:nvPr/>
        </p:nvSpPr>
        <p:spPr>
          <a:xfrm>
            <a:off x="576072" y="6473952"/>
            <a:ext cx="11036808" cy="0"/>
          </a:xfrm>
          <a:prstGeom prst="line">
            <a:avLst/>
          </a:prstGeom>
          <a:noFill/>
          <a:ln w="10160">
            <a:solidFill>
              <a:srgbClr val="547565"/>
            </a:solidFill>
            <a:prstDash val="solid"/>
          </a:ln>
        </p:spPr>
      </p:sp>
      <p:sp>
        <p:nvSpPr>
          <p:cNvPr id="5" name="Text 3"/>
          <p:cNvSpPr/>
          <p:nvPr/>
        </p:nvSpPr>
        <p:spPr>
          <a:xfrm>
            <a:off x="576072" y="6528816"/>
            <a:ext cx="6766560" cy="182880"/>
          </a:xfrm>
          <a:prstGeom prst="rect">
            <a:avLst/>
          </a:prstGeom>
          <a:noFill/>
          <a:ln/>
        </p:spPr>
        <p:txBody>
          <a:bodyPr wrap="square" lIns="0" tIns="0" rIns="0" bIns="0" rtlCol="0" anchor="ctr">
            <a:normAutofit/>
          </a:bodyPr>
          <a:lstStyle/>
          <a:p>
            <a:pPr indent="0" marL="0">
              <a:buNone/>
            </a:pPr>
            <a:r>
              <a:rPr lang="en-US" sz="900" dirty="0">
                <a:solidFill>
                  <a:srgbClr val="B4DCC0"/>
                </a:solidFill>
                <a:latin typeface="Segoe UI" pitchFamily="34" charset="0"/>
                <a:ea typeface="Segoe UI" pitchFamily="34" charset="-122"/>
                <a:cs typeface="Segoe UI" pitchFamily="34" charset="-120"/>
              </a:rPr>
              <a:t>AYN AL-SIJILL  /  AZURE OBSERVABILITY</a:t>
            </a:r>
            <a:endParaRPr lang="en-US" sz="900" dirty="0"/>
          </a:p>
        </p:txBody>
      </p:sp>
      <p:sp>
        <p:nvSpPr>
          <p:cNvPr id="6" name="Text 4"/>
          <p:cNvSpPr/>
          <p:nvPr/>
        </p:nvSpPr>
        <p:spPr>
          <a:xfrm>
            <a:off x="11091672" y="6528816"/>
            <a:ext cx="521208" cy="182880"/>
          </a:xfrm>
          <a:prstGeom prst="rect">
            <a:avLst/>
          </a:prstGeom>
          <a:noFill/>
          <a:ln/>
        </p:spPr>
        <p:txBody>
          <a:bodyPr wrap="square" lIns="0" tIns="0" rIns="0" bIns="0" rtlCol="0" anchor="ctr">
            <a:normAutofit/>
          </a:bodyPr>
          <a:lstStyle/>
          <a:p>
            <a:pPr algn="r" indent="0" marL="0">
              <a:buNone/>
            </a:pPr>
            <a:r>
              <a:rPr lang="en-US" sz="900" dirty="0">
                <a:solidFill>
                  <a:srgbClr val="B4DCC0"/>
                </a:solidFill>
                <a:latin typeface="Segoe UI" pitchFamily="34" charset="0"/>
                <a:ea typeface="Segoe UI" pitchFamily="34" charset="-122"/>
                <a:cs typeface="Segoe UI" pitchFamily="34" charset="-120"/>
              </a:rPr>
              <a:t>15 / 15</a:t>
            </a:r>
            <a:endParaRPr lang="en-US" sz="900" dirty="0"/>
          </a:p>
        </p:txBody>
      </p:sp>
      <p:sp>
        <p:nvSpPr>
          <p:cNvPr id="7" name="Text 5"/>
          <p:cNvSpPr/>
          <p:nvPr/>
        </p:nvSpPr>
        <p:spPr>
          <a:xfrm>
            <a:off x="621792" y="1243584"/>
            <a:ext cx="10698480" cy="1490472"/>
          </a:xfrm>
          <a:prstGeom prst="rect">
            <a:avLst/>
          </a:prstGeom>
          <a:noFill/>
          <a:ln/>
        </p:spPr>
        <p:txBody>
          <a:bodyPr wrap="square" lIns="0" tIns="0" rIns="0" bIns="0" rtlCol="0" anchor="ctr">
            <a:normAutofit/>
          </a:bodyPr>
          <a:lstStyle/>
          <a:p>
            <a:pPr indent="0" marL="0">
              <a:buNone/>
            </a:pPr>
            <a:r>
              <a:rPr lang="en-US" sz="4300" b="1" dirty="0">
                <a:solidFill>
                  <a:srgbClr val="F7FCF4"/>
                </a:solidFill>
                <a:latin typeface="Bahnschrift" pitchFamily="34" charset="0"/>
                <a:ea typeface="Bahnschrift" pitchFamily="34" charset="-122"/>
                <a:cs typeface="Bahnschrift" pitchFamily="34" charset="-120"/>
              </a:rPr>
              <a:t>A failed checkout,</a:t>
            </a:r>
            <a:endParaRPr lang="en-US" sz="4300" dirty="0"/>
          </a:p>
          <a:p>
            <a:pPr indent="0" marL="0">
              <a:buNone/>
            </a:pPr>
            <a:r>
              <a:rPr lang="en-US" sz="4300" b="1" dirty="0">
                <a:solidFill>
                  <a:srgbClr val="F7FCF4"/>
                </a:solidFill>
                <a:latin typeface="Bahnschrift" pitchFamily="34" charset="0"/>
                <a:ea typeface="Bahnschrift" pitchFamily="34" charset="-122"/>
                <a:cs typeface="Bahnschrift" pitchFamily="34" charset="-120"/>
              </a:rPr>
              <a:t>traced to its cause.</a:t>
            </a:r>
            <a:endParaRPr lang="en-US" sz="4300" dirty="0"/>
          </a:p>
        </p:txBody>
      </p:sp>
      <p:sp>
        <p:nvSpPr>
          <p:cNvPr id="8" name="Text 6"/>
          <p:cNvSpPr/>
          <p:nvPr/>
        </p:nvSpPr>
        <p:spPr>
          <a:xfrm>
            <a:off x="658368" y="3209544"/>
            <a:ext cx="10533888" cy="768096"/>
          </a:xfrm>
          <a:prstGeom prst="rect">
            <a:avLst/>
          </a:prstGeom>
          <a:noFill/>
          <a:ln/>
        </p:spPr>
        <p:txBody>
          <a:bodyPr wrap="square" lIns="0" tIns="0" rIns="0" bIns="0" rtlCol="0" anchor="ctr">
            <a:normAutofit/>
          </a:bodyPr>
          <a:lstStyle/>
          <a:p>
            <a:pPr indent="0" marL="0">
              <a:buNone/>
            </a:pPr>
            <a:r>
              <a:rPr lang="en-US" sz="2100" dirty="0">
                <a:solidFill>
                  <a:srgbClr val="D2E9D8"/>
                </a:solidFill>
                <a:latin typeface="Segoe UI" pitchFamily="34" charset="0"/>
                <a:ea typeface="Segoe UI" pitchFamily="34" charset="-122"/>
                <a:cs typeface="Segoe UI" pitchFamily="34" charset="-120"/>
              </a:rPr>
              <a:t>The proposed Ghost Order is searchable in Azure. We also delivered trace-linked alerts and an Azure SQL data source.</a:t>
            </a:r>
            <a:endParaRPr lang="en-US" sz="2100" dirty="0"/>
          </a:p>
        </p:txBody>
      </p:sp>
      <p:sp>
        <p:nvSpPr>
          <p:cNvPr id="9" name="Shape 7"/>
          <p:cNvSpPr/>
          <p:nvPr/>
        </p:nvSpPr>
        <p:spPr>
          <a:xfrm>
            <a:off x="676656" y="4764024"/>
            <a:ext cx="3099816" cy="0"/>
          </a:xfrm>
          <a:prstGeom prst="line">
            <a:avLst/>
          </a:prstGeom>
          <a:noFill/>
          <a:ln w="12700">
            <a:solidFill>
              <a:srgbClr val="6DA483"/>
            </a:solidFill>
            <a:prstDash val="solid"/>
          </a:ln>
        </p:spPr>
      </p:sp>
      <p:sp>
        <p:nvSpPr>
          <p:cNvPr id="10" name="Text 8"/>
          <p:cNvSpPr/>
          <p:nvPr/>
        </p:nvSpPr>
        <p:spPr>
          <a:xfrm>
            <a:off x="676656" y="4983480"/>
            <a:ext cx="3054096" cy="393192"/>
          </a:xfrm>
          <a:prstGeom prst="rect">
            <a:avLst/>
          </a:prstGeom>
          <a:noFill/>
          <a:ln/>
        </p:spPr>
        <p:txBody>
          <a:bodyPr wrap="square" lIns="0" tIns="0" rIns="0" bIns="0" rtlCol="0" anchor="ctr">
            <a:normAutofit/>
          </a:bodyPr>
          <a:lstStyle/>
          <a:p>
            <a:pPr indent="0" marL="0">
              <a:buNone/>
            </a:pPr>
            <a:r>
              <a:rPr lang="en-US" sz="2600" b="1" dirty="0">
                <a:solidFill>
                  <a:srgbClr val="F7FCF4"/>
                </a:solidFill>
                <a:latin typeface="Segoe UI" pitchFamily="34" charset="0"/>
                <a:ea typeface="Segoe UI" pitchFamily="34" charset="-122"/>
                <a:cs typeface="Segoe UI" pitchFamily="34" charset="-120"/>
              </a:rPr>
              <a:t>SEARCH</a:t>
            </a:r>
            <a:endParaRPr lang="en-US" sz="2600" dirty="0"/>
          </a:p>
        </p:txBody>
      </p:sp>
      <p:sp>
        <p:nvSpPr>
          <p:cNvPr id="11" name="Text 9"/>
          <p:cNvSpPr/>
          <p:nvPr/>
        </p:nvSpPr>
        <p:spPr>
          <a:xfrm>
            <a:off x="676656" y="5468112"/>
            <a:ext cx="3044952" cy="292608"/>
          </a:xfrm>
          <a:prstGeom prst="rect">
            <a:avLst/>
          </a:prstGeom>
          <a:noFill/>
          <a:ln/>
        </p:spPr>
        <p:txBody>
          <a:bodyPr wrap="square" lIns="0" tIns="0" rIns="0" bIns="0" rtlCol="0" anchor="ctr">
            <a:normAutofit/>
          </a:bodyPr>
          <a:lstStyle/>
          <a:p>
            <a:pPr indent="0" marL="0">
              <a:buNone/>
            </a:pPr>
            <a:r>
              <a:rPr lang="en-US" sz="1400" dirty="0">
                <a:solidFill>
                  <a:srgbClr val="C2DFCA"/>
                </a:solidFill>
                <a:latin typeface="Segoe UI" pitchFamily="34" charset="0"/>
                <a:ea typeface="Segoe UI" pitchFamily="34" charset="-122"/>
                <a:cs typeface="Segoe UI" pitchFamily="34" charset="-120"/>
              </a:rPr>
              <a:t>Trace-filtered events</a:t>
            </a:r>
            <a:endParaRPr lang="en-US" sz="1400" dirty="0"/>
          </a:p>
        </p:txBody>
      </p:sp>
      <p:sp>
        <p:nvSpPr>
          <p:cNvPr id="12" name="Shape 10"/>
          <p:cNvSpPr/>
          <p:nvPr/>
        </p:nvSpPr>
        <p:spPr>
          <a:xfrm>
            <a:off x="4416552" y="4764024"/>
            <a:ext cx="3099816" cy="0"/>
          </a:xfrm>
          <a:prstGeom prst="line">
            <a:avLst/>
          </a:prstGeom>
          <a:noFill/>
          <a:ln w="12700">
            <a:solidFill>
              <a:srgbClr val="6DA483"/>
            </a:solidFill>
            <a:prstDash val="solid"/>
          </a:ln>
        </p:spPr>
      </p:sp>
      <p:sp>
        <p:nvSpPr>
          <p:cNvPr id="13" name="Text 11"/>
          <p:cNvSpPr/>
          <p:nvPr/>
        </p:nvSpPr>
        <p:spPr>
          <a:xfrm>
            <a:off x="4416552" y="4983480"/>
            <a:ext cx="3054096" cy="393192"/>
          </a:xfrm>
          <a:prstGeom prst="rect">
            <a:avLst/>
          </a:prstGeom>
          <a:noFill/>
          <a:ln/>
        </p:spPr>
        <p:txBody>
          <a:bodyPr wrap="square" lIns="0" tIns="0" rIns="0" bIns="0" rtlCol="0" anchor="ctr">
            <a:normAutofit/>
          </a:bodyPr>
          <a:lstStyle/>
          <a:p>
            <a:pPr indent="0" marL="0">
              <a:buNone/>
            </a:pPr>
            <a:r>
              <a:rPr lang="en-US" sz="2600" b="1" dirty="0">
                <a:solidFill>
                  <a:srgbClr val="F7FCF4"/>
                </a:solidFill>
                <a:latin typeface="Segoe UI" pitchFamily="34" charset="0"/>
                <a:ea typeface="Segoe UI" pitchFamily="34" charset="-122"/>
                <a:cs typeface="Segoe UI" pitchFamily="34" charset="-120"/>
              </a:rPr>
              <a:t>ALERT</a:t>
            </a:r>
            <a:endParaRPr lang="en-US" sz="2600" dirty="0"/>
          </a:p>
        </p:txBody>
      </p:sp>
      <p:sp>
        <p:nvSpPr>
          <p:cNvPr id="14" name="Text 12"/>
          <p:cNvSpPr/>
          <p:nvPr/>
        </p:nvSpPr>
        <p:spPr>
          <a:xfrm>
            <a:off x="4416552" y="5468112"/>
            <a:ext cx="3044952" cy="292608"/>
          </a:xfrm>
          <a:prstGeom prst="rect">
            <a:avLst/>
          </a:prstGeom>
          <a:noFill/>
          <a:ln/>
        </p:spPr>
        <p:txBody>
          <a:bodyPr wrap="square" lIns="0" tIns="0" rIns="0" bIns="0" rtlCol="0" anchor="ctr">
            <a:normAutofit/>
          </a:bodyPr>
          <a:lstStyle/>
          <a:p>
            <a:pPr indent="0" marL="0">
              <a:buNone/>
            </a:pPr>
            <a:r>
              <a:rPr lang="en-US" sz="1400" dirty="0">
                <a:solidFill>
                  <a:srgbClr val="C2DFCA"/>
                </a:solidFill>
                <a:latin typeface="Segoe UI" pitchFamily="34" charset="0"/>
                <a:ea typeface="Segoe UI" pitchFamily="34" charset="-122"/>
                <a:cs typeface="Segoe UI" pitchFamily="34" charset="-120"/>
              </a:rPr>
              <a:t>Telegram incident card</a:t>
            </a:r>
            <a:endParaRPr lang="en-US" sz="1400" dirty="0"/>
          </a:p>
        </p:txBody>
      </p:sp>
      <p:sp>
        <p:nvSpPr>
          <p:cNvPr id="15" name="Shape 13"/>
          <p:cNvSpPr/>
          <p:nvPr/>
        </p:nvSpPr>
        <p:spPr>
          <a:xfrm>
            <a:off x="8156448" y="4764024"/>
            <a:ext cx="3099816" cy="0"/>
          </a:xfrm>
          <a:prstGeom prst="line">
            <a:avLst/>
          </a:prstGeom>
          <a:noFill/>
          <a:ln w="12700">
            <a:solidFill>
              <a:srgbClr val="6DA483"/>
            </a:solidFill>
            <a:prstDash val="solid"/>
          </a:ln>
        </p:spPr>
      </p:sp>
      <p:sp>
        <p:nvSpPr>
          <p:cNvPr id="16" name="Text 14"/>
          <p:cNvSpPr/>
          <p:nvPr/>
        </p:nvSpPr>
        <p:spPr>
          <a:xfrm>
            <a:off x="8156448" y="4983480"/>
            <a:ext cx="3054096" cy="393192"/>
          </a:xfrm>
          <a:prstGeom prst="rect">
            <a:avLst/>
          </a:prstGeom>
          <a:noFill/>
          <a:ln/>
        </p:spPr>
        <p:txBody>
          <a:bodyPr wrap="square" lIns="0" tIns="0" rIns="0" bIns="0" rtlCol="0" anchor="ctr">
            <a:normAutofit/>
          </a:bodyPr>
          <a:lstStyle/>
          <a:p>
            <a:pPr indent="0" marL="0">
              <a:buNone/>
            </a:pPr>
            <a:r>
              <a:rPr lang="en-US" sz="2600" b="1" dirty="0">
                <a:solidFill>
                  <a:srgbClr val="F7FCF4"/>
                </a:solidFill>
                <a:latin typeface="Segoe UI" pitchFamily="34" charset="0"/>
                <a:ea typeface="Segoe UI" pitchFamily="34" charset="-122"/>
                <a:cs typeface="Segoe UI" pitchFamily="34" charset="-120"/>
              </a:rPr>
              <a:t>QUERY</a:t>
            </a:r>
            <a:endParaRPr lang="en-US" sz="2600" dirty="0"/>
          </a:p>
        </p:txBody>
      </p:sp>
      <p:sp>
        <p:nvSpPr>
          <p:cNvPr id="17" name="Text 15"/>
          <p:cNvSpPr/>
          <p:nvPr/>
        </p:nvSpPr>
        <p:spPr>
          <a:xfrm>
            <a:off x="8156448" y="5468112"/>
            <a:ext cx="3044952" cy="292608"/>
          </a:xfrm>
          <a:prstGeom prst="rect">
            <a:avLst/>
          </a:prstGeom>
          <a:noFill/>
          <a:ln/>
        </p:spPr>
        <p:txBody>
          <a:bodyPr wrap="square" lIns="0" tIns="0" rIns="0" bIns="0" rtlCol="0" anchor="ctr">
            <a:normAutofit/>
          </a:bodyPr>
          <a:lstStyle/>
          <a:p>
            <a:pPr indent="0" marL="0">
              <a:buNone/>
            </a:pPr>
            <a:r>
              <a:rPr lang="en-US" sz="1400" dirty="0">
                <a:solidFill>
                  <a:srgbClr val="C2DFCA"/>
                </a:solidFill>
                <a:latin typeface="Segoe UI" pitchFamily="34" charset="0"/>
                <a:ea typeface="Segoe UI" pitchFamily="34" charset="-122"/>
                <a:cs typeface="Segoe UI" pitchFamily="34" charset="-120"/>
              </a:rPr>
              <a:t>Azure SQL records</a:t>
            </a:r>
            <a:endParaRPr lang="en-US" sz="1400" dirty="0"/>
          </a:p>
        </p:txBody>
      </p:sp>
      <p:sp>
        <p:nvSpPr>
          <p:cNvPr id="18" name="Text 16"/>
          <p:cNvSpPr/>
          <p:nvPr/>
        </p:nvSpPr>
        <p:spPr>
          <a:xfrm>
            <a:off x="676656" y="6126480"/>
            <a:ext cx="10725912" cy="219456"/>
          </a:xfrm>
          <a:prstGeom prst="rect">
            <a:avLst/>
          </a:prstGeom>
          <a:noFill/>
          <a:ln/>
        </p:spPr>
        <p:txBody>
          <a:bodyPr wrap="square" lIns="0" tIns="0" rIns="0" bIns="0" rtlCol="0" anchor="ctr">
            <a:normAutofit/>
          </a:bodyPr>
          <a:lstStyle/>
          <a:p>
            <a:pPr indent="0" marL="0">
              <a:buNone/>
            </a:pPr>
            <a:r>
              <a:rPr lang="en-US" sz="1000" dirty="0">
                <a:solidFill>
                  <a:srgbClr val="B9D6C3"/>
                </a:solidFill>
                <a:latin typeface="Segoe UI" pitchFamily="34" charset="0"/>
                <a:ea typeface="Segoe UI" pitchFamily="34" charset="-122"/>
                <a:cs typeface="Segoe UI" pitchFamily="34" charset="-120"/>
              </a:rPr>
              <a:t>Saud  •  Retaj  •  Norah  •  Lama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AYN AL-SIJILL | Azure observability case study</dc:title>
  <dc:subject>Client presentation about the Azure observability implementation</dc:subject>
  <dc:creator>AYN AL-SIJILL project team</dc:creator>
  <cp:lastModifiedBy>AYN AL-SIJILL project team</cp:lastModifiedBy>
  <cp:revision>1</cp:revision>
  <dcterms:created xsi:type="dcterms:W3CDTF">2026-09-24T23:23:21Z</dcterms:created>
  <dcterms:modified xsi:type="dcterms:W3CDTF">2026-09-24T23:23:21Z</dcterms:modified>
</cp:coreProperties>
</file>